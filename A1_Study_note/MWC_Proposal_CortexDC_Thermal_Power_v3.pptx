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10"/>
  </p:notesMasterIdLst>
  <p:sldIdLst>
    <p:sldId id="256" r:id="rId2"/>
    <p:sldId id="257" r:id="rId3"/>
    <p:sldId id="264" r:id="rId4"/>
    <p:sldId id="258" r:id="rId5"/>
    <p:sldId id="259" r:id="rId6"/>
    <p:sldId id="261" r:id="rId7"/>
    <p:sldId id="265" r:id="rId8"/>
    <p:sldId id="263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A400"/>
    <a:srgbClr val="4D9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43"/>
    <p:restoredTop sz="95687"/>
  </p:normalViewPr>
  <p:slideViewPr>
    <p:cSldViewPr snapToGrid="0">
      <p:cViewPr>
        <p:scale>
          <a:sx n="100" d="100"/>
          <a:sy n="100" d="100"/>
        </p:scale>
        <p:origin x="1904" y="8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49bf3ce4a53a5d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h49bf3ce4a53a5d7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h49bf3ce4a53a5d7c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zh-TW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49bf3ce4a53a5d7c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h49bf3ce4a53a5d7c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h49bf3ce4a53a5d7c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zh-TW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78B81FEB-EF9A-E70C-BD3D-FD89B59D1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49bf3ce4a53a5d7c_0_18:notes">
            <a:extLst>
              <a:ext uri="{FF2B5EF4-FFF2-40B4-BE49-F238E27FC236}">
                <a16:creationId xmlns:a16="http://schemas.microsoft.com/office/drawing/2014/main" id="{14E82377-26EE-1B21-DC94-6DF174537C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49bf3ce4a53a5d7c_0_18:notes">
            <a:extLst>
              <a:ext uri="{FF2B5EF4-FFF2-40B4-BE49-F238E27FC236}">
                <a16:creationId xmlns:a16="http://schemas.microsoft.com/office/drawing/2014/main" id="{9A51C460-2D7A-413C-2430-87F50AFDE0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1F1F1F"/>
                </a:solidFill>
                <a:highlight>
                  <a:srgbClr val="F2F0F0"/>
                </a:highlight>
              </a:rPr>
              <a:t>在 5G O-RAN 的拆分選項中，我們可以看到像是紫色這列不同的層去做拆分，其中MAC層 以及PHY層之間呢主要是透過FAPI 訊息格式做溝通，那麼如果要將FAPI 拆分成兩台機器的話呢就需要使用 nFAPI 透過網路的方式拆分成不同機器去部屬，那既然拆分的話，兩端就會需要同步，而nFAPI是以slot 為單位的同步等級，更重要的是拆分後需要確保訊息能夠在deadline之前抵達，這邊我們可以先介紹在探討拆分選項6的時候呢我們會稱MAC層以上的叫做VNF PHY層以下的叫做PNF</a:t>
            </a:r>
            <a:endParaRPr sz="1300">
              <a:solidFill>
                <a:srgbClr val="1F1F1F"/>
              </a:solidFill>
              <a:highlight>
                <a:srgbClr val="F2F0F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013116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49bf3ce4a53a5d7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49bf3ce4a53a5d7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TW" sz="1400" dirty="0">
                <a:highlight>
                  <a:srgbClr val="F2F0F0"/>
                </a:highlight>
              </a:rPr>
              <a:t>Uses naturally collected host-level data and XGBoost to predict thermal states for thermal-aware scheduling.</a:t>
            </a:r>
            <a:br>
              <a:rPr lang="en-TW" sz="1400" dirty="0">
                <a:highlight>
                  <a:srgbClr val="F2F0F0"/>
                </a:highlight>
              </a:rPr>
            </a:br>
            <a:r>
              <a:rPr lang="en-TW" sz="1400" dirty="0">
                <a:highlight>
                  <a:srgbClr val="F2F0F0"/>
                </a:highlight>
              </a:rPr>
              <a:t>Naturally collected data may not sufficiently cover all operating conditions, and the effect of network traffic is not systematically evaluated under controlled workloads.</a:t>
            </a:r>
            <a:endParaRPr sz="1300" dirty="0">
              <a:solidFill>
                <a:srgbClr val="1F1F1F"/>
              </a:solidFill>
              <a:highlight>
                <a:srgbClr val="F2F0F0"/>
              </a:highlight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1100" b="1" i="0" dirty="0">
                <a:solidFill>
                  <a:srgbClr val="003868"/>
                </a:solidFill>
                <a:latin typeface="Times New Roman"/>
              </a:rPr>
              <a:t>Core question: 1. Does adding  traffic reduce prediction error?</a:t>
            </a:r>
          </a:p>
          <a:p>
            <a:pPr algn="ctr"/>
            <a:r>
              <a:rPr lang="en-US" sz="1100" b="1" dirty="0">
                <a:solidFill>
                  <a:srgbClr val="003868"/>
                </a:solidFill>
                <a:latin typeface="Times New Roman"/>
              </a:rPr>
              <a:t>2. What the relationship between different feature?</a:t>
            </a:r>
            <a:endParaRPr lang="en-US" sz="1100" b="1" i="0" dirty="0">
              <a:solidFill>
                <a:srgbClr val="003868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21222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B95ED-2827-0FBE-85E8-346159685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44FB01-8080-FAA9-0496-70899712C0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BD52F0-B1B6-A658-396E-F17AB3E82A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1100" b="1" i="0" dirty="0">
                <a:solidFill>
                  <a:srgbClr val="003868"/>
                </a:solidFill>
                <a:latin typeface="Times New Roman"/>
              </a:rPr>
              <a:t>Core question: 1. Does adding  traffic reduce prediction error?</a:t>
            </a:r>
          </a:p>
          <a:p>
            <a:pPr algn="ctr"/>
            <a:r>
              <a:rPr lang="en-US" sz="1100" b="1" dirty="0">
                <a:solidFill>
                  <a:srgbClr val="003868"/>
                </a:solidFill>
                <a:latin typeface="Times New Roman"/>
              </a:rPr>
              <a:t>2. What the relationship between different feature?</a:t>
            </a:r>
            <a:endParaRPr lang="en-US" sz="1100" b="1" i="0" dirty="0">
              <a:solidFill>
                <a:srgbClr val="003868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36036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 1">
  <p:cSld name="標題投影片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ctrTitle"/>
          </p:nvPr>
        </p:nvSpPr>
        <p:spPr>
          <a:xfrm>
            <a:off x="1817370" y="1173242"/>
            <a:ext cx="55095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Microsoft JhengHei"/>
              <a:buNone/>
              <a:defRPr sz="27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1"/>
          </p:nvPr>
        </p:nvSpPr>
        <p:spPr>
          <a:xfrm>
            <a:off x="2814638" y="3135392"/>
            <a:ext cx="35148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8476309" y="16598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>
  <p:cSld name="直排標題及文字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body" idx="1"/>
          </p:nvPr>
        </p:nvSpPr>
        <p:spPr>
          <a:xfrm>
            <a:off x="4598127" y="1139667"/>
            <a:ext cx="3360300" cy="3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456171" y="16598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 1 8">
  <p:cSld name="只有標題 1 (g3dbced1c493_6_0)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title"/>
          </p:nvPr>
        </p:nvSpPr>
        <p:spPr>
          <a:xfrm>
            <a:off x="1131950" y="160366"/>
            <a:ext cx="74082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8456190" y="17316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ctrTitle"/>
          </p:nvPr>
        </p:nvSpPr>
        <p:spPr>
          <a:xfrm>
            <a:off x="1527142" y="2163076"/>
            <a:ext cx="6089716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lvl="0" algn="ctr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891"/>
            </a:pPr>
            <a:r>
              <a:rPr sz="2050" b="0" dirty="0">
                <a:solidFill>
                  <a:srgbClr val="FFFFFF"/>
                </a:solidFill>
                <a:latin typeface="Times New Roman"/>
              </a:rPr>
              <a:t>Temperature  Prediction</a:t>
            </a:r>
            <a:br>
              <a:rPr dirty="0"/>
            </a:br>
            <a:r>
              <a:rPr sz="2050" b="0" dirty="0">
                <a:solidFill>
                  <a:srgbClr val="FFFFFF"/>
                </a:solidFill>
                <a:latin typeface="Times New Roman"/>
              </a:rPr>
              <a:t>for O-Cloud Servers</a:t>
            </a:r>
            <a:endParaRPr sz="2400" dirty="0">
              <a:latin typeface="Times New Roman" panose="02020603050405020304" pitchFamily="18" charset="0"/>
              <a:ea typeface="Comic Sans MS"/>
              <a:cs typeface="Times New Roman" panose="02020603050405020304" pitchFamily="18" charset="0"/>
              <a:sym typeface="Comic Sans MS"/>
            </a:endParaRPr>
          </a:p>
        </p:txBody>
      </p:sp>
      <p:sp>
        <p:nvSpPr>
          <p:cNvPr id="72" name="Google Shape;72;p16"/>
          <p:cNvSpPr txBox="1">
            <a:spLocks noGrp="1"/>
          </p:cNvSpPr>
          <p:nvPr>
            <p:ph type="subTitle" idx="1"/>
          </p:nvPr>
        </p:nvSpPr>
        <p:spPr>
          <a:xfrm>
            <a:off x="2814600" y="2944368"/>
            <a:ext cx="35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sz="1350" b="0">
                <a:solidFill>
                  <a:srgbClr val="FFFFFF"/>
                </a:solidFill>
                <a:latin typeface="Times New Roman"/>
              </a:rPr>
              <a:t>Student: M11502273 Chynna 陳以薰</a:t>
            </a:r>
            <a:endParaRPr sz="1800" dirty="0">
              <a:latin typeface="Times New Roman" panose="02020603050405020304" pitchFamily="18" charset="0"/>
              <a:ea typeface="Comic Sans MS"/>
              <a:cs typeface="Times New Roman" panose="02020603050405020304" pitchFamily="18" charset="0"/>
              <a:sym typeface="Comic Sans MS"/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448446" y="18306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fld id="{00000000-1234-1234-1234-123412341234}" type="slidenum">
              <a:rPr lang="en-US" altLang="zh-TW"/>
              <a:t>1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768B20-1DF3-7B0A-B734-75044FF7B7D2}"/>
              </a:ext>
            </a:extLst>
          </p:cNvPr>
          <p:cNvSpPr txBox="1"/>
          <p:nvPr/>
        </p:nvSpPr>
        <p:spPr>
          <a:xfrm>
            <a:off x="3475529" y="1780166"/>
            <a:ext cx="2192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250" b="0">
                <a:solidFill>
                  <a:srgbClr val="FFFFFF"/>
                </a:solidFill>
                <a:latin typeface="Times New Roman"/>
              </a:rPr>
              <a:t>MWC-Project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456171" y="16598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sz="15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617720" y="1407690"/>
            <a:ext cx="2782813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TW" sz="1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Knowledge</a:t>
            </a:r>
            <a:r>
              <a:rPr lang="zh-TW" altLang="en-US" sz="1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17720" y="2106576"/>
            <a:ext cx="2712281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US" sz="1500" b="1" dirty="0">
                <a:solidFill>
                  <a:srgbClr val="0070C0"/>
                </a:solidFill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Research Paper &amp; Research Gap</a:t>
            </a:r>
            <a:endParaRPr sz="15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636574" y="2739493"/>
            <a:ext cx="2643352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US" sz="1500" b="1" dirty="0">
                <a:solidFill>
                  <a:srgbClr val="0070C0"/>
                </a:solidFill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Proposal-Motivation &amp; Method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17720" y="3381837"/>
            <a:ext cx="1590179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Plan</a:t>
            </a:r>
            <a:r>
              <a:rPr lang="zh-TW" altLang="en-US" sz="1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5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636574" y="4014749"/>
            <a:ext cx="1553310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US" altLang="zh-TW" sz="1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Excepted Outcome</a:t>
            </a:r>
            <a:endParaRPr sz="15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2316963-7440-DCA0-A69D-501A8A87D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>
            <a:extLst>
              <a:ext uri="{FF2B5EF4-FFF2-40B4-BE49-F238E27FC236}">
                <a16:creationId xmlns:a16="http://schemas.microsoft.com/office/drawing/2014/main" id="{C5737C28-7B8C-B6F3-1803-C8DFFBAA7B66}"/>
              </a:ext>
            </a:extLst>
          </p:cNvPr>
          <p:cNvSpPr/>
          <p:nvPr/>
        </p:nvSpPr>
        <p:spPr>
          <a:xfrm>
            <a:off x="269897" y="230304"/>
            <a:ext cx="717504" cy="854298"/>
          </a:xfrm>
          <a:custGeom>
            <a:avLst/>
            <a:gdLst/>
            <a:ahLst/>
            <a:cxnLst/>
            <a:rect l="l" t="t" r="r" b="b"/>
            <a:pathLst>
              <a:path w="537" h="623" extrusionOk="0">
                <a:moveTo>
                  <a:pt x="269" y="0"/>
                </a:moveTo>
                <a:lnTo>
                  <a:pt x="403" y="78"/>
                </a:lnTo>
                <a:lnTo>
                  <a:pt x="537" y="156"/>
                </a:lnTo>
                <a:lnTo>
                  <a:pt x="537" y="311"/>
                </a:lnTo>
                <a:lnTo>
                  <a:pt x="537" y="467"/>
                </a:lnTo>
                <a:lnTo>
                  <a:pt x="403" y="545"/>
                </a:lnTo>
                <a:lnTo>
                  <a:pt x="269" y="623"/>
                </a:lnTo>
                <a:lnTo>
                  <a:pt x="134" y="545"/>
                </a:lnTo>
                <a:lnTo>
                  <a:pt x="0" y="467"/>
                </a:lnTo>
                <a:lnTo>
                  <a:pt x="0" y="311"/>
                </a:lnTo>
                <a:lnTo>
                  <a:pt x="0" y="156"/>
                </a:lnTo>
                <a:lnTo>
                  <a:pt x="134" y="78"/>
                </a:lnTo>
                <a:lnTo>
                  <a:pt x="269" y="0"/>
                </a:lnTo>
                <a:close/>
                <a:moveTo>
                  <a:pt x="269" y="53"/>
                </a:moveTo>
                <a:lnTo>
                  <a:pt x="380" y="117"/>
                </a:lnTo>
                <a:lnTo>
                  <a:pt x="492" y="182"/>
                </a:lnTo>
                <a:lnTo>
                  <a:pt x="492" y="311"/>
                </a:lnTo>
                <a:lnTo>
                  <a:pt x="492" y="441"/>
                </a:lnTo>
                <a:lnTo>
                  <a:pt x="380" y="505"/>
                </a:lnTo>
                <a:lnTo>
                  <a:pt x="269" y="570"/>
                </a:lnTo>
                <a:lnTo>
                  <a:pt x="157" y="505"/>
                </a:lnTo>
                <a:lnTo>
                  <a:pt x="46" y="441"/>
                </a:lnTo>
                <a:lnTo>
                  <a:pt x="46" y="311"/>
                </a:lnTo>
                <a:lnTo>
                  <a:pt x="46" y="182"/>
                </a:lnTo>
                <a:lnTo>
                  <a:pt x="157" y="117"/>
                </a:lnTo>
                <a:lnTo>
                  <a:pt x="269" y="53"/>
                </a:lnTo>
                <a:close/>
                <a:moveTo>
                  <a:pt x="215" y="455"/>
                </a:moveTo>
                <a:lnTo>
                  <a:pt x="367" y="455"/>
                </a:lnTo>
                <a:cubicBezTo>
                  <a:pt x="371" y="455"/>
                  <a:pt x="375" y="458"/>
                  <a:pt x="375" y="463"/>
                </a:cubicBezTo>
                <a:cubicBezTo>
                  <a:pt x="375" y="467"/>
                  <a:pt x="371" y="471"/>
                  <a:pt x="367" y="471"/>
                </a:cubicBezTo>
                <a:lnTo>
                  <a:pt x="215" y="471"/>
                </a:lnTo>
                <a:cubicBezTo>
                  <a:pt x="211" y="471"/>
                  <a:pt x="207" y="467"/>
                  <a:pt x="207" y="463"/>
                </a:cubicBezTo>
                <a:cubicBezTo>
                  <a:pt x="207" y="458"/>
                  <a:pt x="211" y="455"/>
                  <a:pt x="215" y="455"/>
                </a:cubicBezTo>
                <a:close/>
                <a:moveTo>
                  <a:pt x="218" y="380"/>
                </a:moveTo>
                <a:lnTo>
                  <a:pt x="302" y="242"/>
                </a:lnTo>
                <a:lnTo>
                  <a:pt x="331" y="260"/>
                </a:lnTo>
                <a:lnTo>
                  <a:pt x="248" y="398"/>
                </a:lnTo>
                <a:lnTo>
                  <a:pt x="218" y="380"/>
                </a:lnTo>
                <a:close/>
                <a:moveTo>
                  <a:pt x="159" y="344"/>
                </a:moveTo>
                <a:lnTo>
                  <a:pt x="243" y="207"/>
                </a:lnTo>
                <a:lnTo>
                  <a:pt x="272" y="224"/>
                </a:lnTo>
                <a:lnTo>
                  <a:pt x="189" y="362"/>
                </a:lnTo>
                <a:lnTo>
                  <a:pt x="159" y="344"/>
                </a:lnTo>
                <a:close/>
                <a:moveTo>
                  <a:pt x="146" y="456"/>
                </a:moveTo>
                <a:lnTo>
                  <a:pt x="154" y="387"/>
                </a:lnTo>
                <a:lnTo>
                  <a:pt x="211" y="422"/>
                </a:lnTo>
                <a:lnTo>
                  <a:pt x="155" y="461"/>
                </a:lnTo>
                <a:cubicBezTo>
                  <a:pt x="149" y="465"/>
                  <a:pt x="145" y="463"/>
                  <a:pt x="146" y="456"/>
                </a:cubicBezTo>
                <a:close/>
                <a:moveTo>
                  <a:pt x="266" y="168"/>
                </a:moveTo>
                <a:lnTo>
                  <a:pt x="253" y="188"/>
                </a:lnTo>
                <a:lnTo>
                  <a:pt x="342" y="242"/>
                </a:lnTo>
                <a:lnTo>
                  <a:pt x="354" y="222"/>
                </a:lnTo>
                <a:lnTo>
                  <a:pt x="266" y="168"/>
                </a:lnTo>
                <a:close/>
                <a:moveTo>
                  <a:pt x="285" y="138"/>
                </a:moveTo>
                <a:cubicBezTo>
                  <a:pt x="290" y="129"/>
                  <a:pt x="302" y="126"/>
                  <a:pt x="311" y="131"/>
                </a:cubicBezTo>
                <a:lnTo>
                  <a:pt x="366" y="165"/>
                </a:lnTo>
                <a:cubicBezTo>
                  <a:pt x="375" y="170"/>
                  <a:pt x="378" y="182"/>
                  <a:pt x="373" y="191"/>
                </a:cubicBezTo>
                <a:lnTo>
                  <a:pt x="365" y="204"/>
                </a:lnTo>
                <a:lnTo>
                  <a:pt x="277" y="150"/>
                </a:lnTo>
                <a:lnTo>
                  <a:pt x="285" y="138"/>
                </a:lnTo>
                <a:close/>
              </a:path>
            </a:pathLst>
          </a:custGeom>
          <a:solidFill>
            <a:srgbClr val="005BAC"/>
          </a:solidFill>
          <a:ln>
            <a:noFill/>
          </a:ln>
        </p:spPr>
        <p:txBody>
          <a:bodyPr spcFirstLastPara="1" wrap="square" lIns="68525" tIns="34250" rIns="68525" bIns="342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1" name="Google Shape;91;p18">
            <a:extLst>
              <a:ext uri="{FF2B5EF4-FFF2-40B4-BE49-F238E27FC236}">
                <a16:creationId xmlns:a16="http://schemas.microsoft.com/office/drawing/2014/main" id="{9FC7D262-086D-DBD3-CF3F-80D4F97FE5C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56190" y="173163"/>
            <a:ext cx="548700" cy="3936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sz="1600" b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18">
            <a:extLst>
              <a:ext uri="{FF2B5EF4-FFF2-40B4-BE49-F238E27FC236}">
                <a16:creationId xmlns:a16="http://schemas.microsoft.com/office/drawing/2014/main" id="{5BE5FA46-1DAA-3F4F-C8F8-32AEBBE6D25A}"/>
              </a:ext>
            </a:extLst>
          </p:cNvPr>
          <p:cNvSpPr txBox="1"/>
          <p:nvPr/>
        </p:nvSpPr>
        <p:spPr>
          <a:xfrm>
            <a:off x="295368" y="4812616"/>
            <a:ext cx="8937900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Reference: [1] </a:t>
            </a:r>
            <a:r>
              <a:rPr sz="85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Ilager</a:t>
            </a:r>
            <a:r>
              <a:rPr sz="85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al., IEEE TPDS, 2021.</a:t>
            </a:r>
            <a:endParaRPr sz="1000" dirty="0">
              <a:solidFill>
                <a:schemeClr val="tx1"/>
              </a:solidFill>
              <a:latin typeface="Times New Roman" panose="02020603050405020304" pitchFamily="18" charset="0"/>
              <a:ea typeface="Comic Sans MS"/>
              <a:cs typeface="Times New Roman" panose="02020603050405020304" pitchFamily="18" charset="0"/>
              <a:sym typeface="Comic Sans MS"/>
            </a:endParaRPr>
          </a:p>
        </p:txBody>
      </p:sp>
      <p:pic>
        <p:nvPicPr>
          <p:cNvPr id="98" name="Google Shape;98;p18">
            <a:extLst>
              <a:ext uri="{FF2B5EF4-FFF2-40B4-BE49-F238E27FC236}">
                <a16:creationId xmlns:a16="http://schemas.microsoft.com/office/drawing/2014/main" id="{0614D312-FD3D-B28A-E9B5-D872E9FE700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8545" r="19076"/>
          <a:stretch/>
        </p:blipFill>
        <p:spPr>
          <a:xfrm>
            <a:off x="38725" y="4786575"/>
            <a:ext cx="342275" cy="3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>
            <a:extLst>
              <a:ext uri="{FF2B5EF4-FFF2-40B4-BE49-F238E27FC236}">
                <a16:creationId xmlns:a16="http://schemas.microsoft.com/office/drawing/2014/main" id="{D87284FF-9DDC-A755-34B4-1841041CF7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7432" y="276774"/>
            <a:ext cx="7408200" cy="854298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Background </a:t>
            </a:r>
            <a:r>
              <a:rPr lang="en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＆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sz="2800" dirty="0">
              <a:latin typeface="Times New Roman" panose="02020603050405020304" pitchFamily="18" charset="0"/>
              <a:ea typeface="Comic Sans MS"/>
              <a:cs typeface="Times New Roman" panose="02020603050405020304" pitchFamily="18" charset="0"/>
              <a:sym typeface="Comic Sans MS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5E7CA71-19DF-40D8-37CE-66A9609D3B7A}"/>
              </a:ext>
            </a:extLst>
          </p:cNvPr>
          <p:cNvGrpSpPr/>
          <p:nvPr/>
        </p:nvGrpSpPr>
        <p:grpSpPr>
          <a:xfrm>
            <a:off x="361875" y="1727308"/>
            <a:ext cx="8447877" cy="2318349"/>
            <a:chOff x="361875" y="1913287"/>
            <a:chExt cx="8447877" cy="2318349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DCF9B6A-A32C-9964-8173-812E46E87D7D}"/>
                </a:ext>
              </a:extLst>
            </p:cNvPr>
            <p:cNvGrpSpPr/>
            <p:nvPr/>
          </p:nvGrpSpPr>
          <p:grpSpPr>
            <a:xfrm>
              <a:off x="3656862" y="1913287"/>
              <a:ext cx="5152890" cy="2318349"/>
              <a:chOff x="2375787" y="1151739"/>
              <a:chExt cx="5152890" cy="2318349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8D678E7B-4005-A6FB-5BF7-935C6FBA3DEF}"/>
                  </a:ext>
                </a:extLst>
              </p:cNvPr>
              <p:cNvGrpSpPr/>
              <p:nvPr/>
            </p:nvGrpSpPr>
            <p:grpSpPr>
              <a:xfrm>
                <a:off x="2375787" y="1797873"/>
                <a:ext cx="1641162" cy="789776"/>
                <a:chOff x="1784603" y="2165638"/>
                <a:chExt cx="1578545" cy="685811"/>
              </a:xfrm>
            </p:grpSpPr>
            <p:sp>
              <p:nvSpPr>
                <p:cNvPr id="100" name="Rounded Rectangle 99">
                  <a:extLst>
                    <a:ext uri="{FF2B5EF4-FFF2-40B4-BE49-F238E27FC236}">
                      <a16:creationId xmlns:a16="http://schemas.microsoft.com/office/drawing/2014/main" id="{32A2C0B0-DAB8-0663-7064-E6B7DBE1F55C}"/>
                    </a:ext>
                  </a:extLst>
                </p:cNvPr>
                <p:cNvSpPr/>
                <p:nvPr/>
              </p:nvSpPr>
              <p:spPr>
                <a:xfrm>
                  <a:off x="1784603" y="2165638"/>
                  <a:ext cx="1573424" cy="685811"/>
                </a:xfrm>
                <a:prstGeom prst="roundRect">
                  <a:avLst/>
                </a:prstGeom>
                <a:solidFill>
                  <a:srgbClr val="F3F7FB"/>
                </a:solidFill>
                <a:ln w="19050">
                  <a:solidFill>
                    <a:srgbClr val="005BA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2F9747B8-8BD3-5899-EED6-0AF4EFD38089}"/>
                    </a:ext>
                  </a:extLst>
                </p:cNvPr>
                <p:cNvSpPr txBox="1"/>
                <p:nvPr/>
              </p:nvSpPr>
              <p:spPr>
                <a:xfrm>
                  <a:off x="1785330" y="2219420"/>
                  <a:ext cx="1577818" cy="491761"/>
                </a:xfrm>
                <a:prstGeom prst="rect">
                  <a:avLst/>
                </a:prstGeom>
                <a:noFill/>
              </p:spPr>
              <p:txBody>
                <a:bodyPr wrap="square" lIns="36576" tIns="36576" rIns="36576" bIns="36576" anchor="ctr">
                  <a:spAutoFit/>
                </a:bodyPr>
                <a:lstStyle/>
                <a:p>
                  <a:pPr algn="ctr"/>
                  <a:r>
                    <a:rPr lang="en-US" sz="1600" b="1" dirty="0">
                      <a:solidFill>
                        <a:srgbClr val="005BAC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Server </a:t>
                  </a:r>
                </a:p>
                <a:p>
                  <a:pPr algn="ctr"/>
                  <a:r>
                    <a:rPr lang="en-US" sz="1600" b="1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Temperature</a:t>
                  </a:r>
                  <a:endParaRPr sz="1600" b="1" i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E75FD146-C7C6-894C-E5E2-534D09296045}"/>
                  </a:ext>
                </a:extLst>
              </p:cNvPr>
              <p:cNvGrpSpPr/>
              <p:nvPr/>
            </p:nvGrpSpPr>
            <p:grpSpPr>
              <a:xfrm>
                <a:off x="4946596" y="1151739"/>
                <a:ext cx="2403170" cy="487982"/>
                <a:chOff x="5486433" y="1226907"/>
                <a:chExt cx="2403170" cy="487982"/>
              </a:xfrm>
            </p:grpSpPr>
            <p:sp>
              <p:nvSpPr>
                <p:cNvPr id="105" name="Rounded Rectangle 104">
                  <a:extLst>
                    <a:ext uri="{FF2B5EF4-FFF2-40B4-BE49-F238E27FC236}">
                      <a16:creationId xmlns:a16="http://schemas.microsoft.com/office/drawing/2014/main" id="{EC984174-4926-6474-0E09-EBF8E956F13F}"/>
                    </a:ext>
                  </a:extLst>
                </p:cNvPr>
                <p:cNvSpPr/>
                <p:nvPr/>
              </p:nvSpPr>
              <p:spPr>
                <a:xfrm>
                  <a:off x="5486433" y="1226907"/>
                  <a:ext cx="2403170" cy="487982"/>
                </a:xfrm>
                <a:prstGeom prst="roundRect">
                  <a:avLst>
                    <a:gd name="adj" fmla="val 33402"/>
                  </a:avLst>
                </a:prstGeom>
                <a:solidFill>
                  <a:srgbClr val="FFF8EE"/>
                </a:solidFill>
                <a:ln w="19050">
                  <a:solidFill>
                    <a:srgbClr val="C7620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A4AA4755-17C5-59D8-4854-A6F1A7C9720E}"/>
                    </a:ext>
                  </a:extLst>
                </p:cNvPr>
                <p:cNvSpPr txBox="1"/>
                <p:nvPr/>
              </p:nvSpPr>
              <p:spPr>
                <a:xfrm>
                  <a:off x="5758728" y="1310136"/>
                  <a:ext cx="1878206" cy="320088"/>
                </a:xfrm>
                <a:prstGeom prst="rect">
                  <a:avLst/>
                </a:prstGeom>
                <a:noFill/>
              </p:spPr>
              <p:txBody>
                <a:bodyPr wrap="square" lIns="36576" tIns="36576" rIns="36576" bIns="36576" anchor="ctr">
                  <a:spAutoFit/>
                </a:bodyPr>
                <a:lstStyle/>
                <a:p>
                  <a:pPr algn="ctr"/>
                  <a:r>
                    <a:rPr lang="en-US" sz="1600" b="1" dirty="0">
                      <a:solidFill>
                        <a:srgbClr val="C762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Thermal hotspots</a:t>
                  </a:r>
                  <a:endParaRPr sz="1600" b="1" i="0" dirty="0">
                    <a:solidFill>
                      <a:srgbClr val="C762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0C3D31C0-3822-DC89-EC33-1E351F3D3B04}"/>
                  </a:ext>
                </a:extLst>
              </p:cNvPr>
              <p:cNvGrpSpPr/>
              <p:nvPr/>
            </p:nvGrpSpPr>
            <p:grpSpPr>
              <a:xfrm>
                <a:off x="4874925" y="1852400"/>
                <a:ext cx="2653752" cy="731077"/>
                <a:chOff x="5235851" y="1153126"/>
                <a:chExt cx="2653752" cy="731077"/>
              </a:xfrm>
            </p:grpSpPr>
            <p:sp>
              <p:nvSpPr>
                <p:cNvPr id="5" name="Rounded Rectangle 4">
                  <a:extLst>
                    <a:ext uri="{FF2B5EF4-FFF2-40B4-BE49-F238E27FC236}">
                      <a16:creationId xmlns:a16="http://schemas.microsoft.com/office/drawing/2014/main" id="{FE6F44A0-2CBF-D974-F89C-0174CBEDC8CE}"/>
                    </a:ext>
                  </a:extLst>
                </p:cNvPr>
                <p:cNvSpPr/>
                <p:nvPr/>
              </p:nvSpPr>
              <p:spPr>
                <a:xfrm>
                  <a:off x="5235851" y="1153126"/>
                  <a:ext cx="2653752" cy="731077"/>
                </a:xfrm>
                <a:prstGeom prst="roundRect">
                  <a:avLst>
                    <a:gd name="adj" fmla="val 33402"/>
                  </a:avLst>
                </a:prstGeom>
                <a:solidFill>
                  <a:srgbClr val="FFF8EE"/>
                </a:solidFill>
                <a:ln w="19050">
                  <a:solidFill>
                    <a:srgbClr val="C7620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858CCED-ECD8-F7FB-4443-F503E911FF34}"/>
                    </a:ext>
                  </a:extLst>
                </p:cNvPr>
                <p:cNvSpPr txBox="1"/>
                <p:nvPr/>
              </p:nvSpPr>
              <p:spPr>
                <a:xfrm>
                  <a:off x="5657130" y="1203959"/>
                  <a:ext cx="1878206" cy="566309"/>
                </a:xfrm>
                <a:prstGeom prst="rect">
                  <a:avLst/>
                </a:prstGeom>
                <a:noFill/>
              </p:spPr>
              <p:txBody>
                <a:bodyPr wrap="square" lIns="36576" tIns="36576" rIns="36576" bIns="36576" anchor="ctr">
                  <a:spAutoFit/>
                </a:bodyPr>
                <a:lstStyle/>
                <a:p>
                  <a:pPr algn="ctr"/>
                  <a:r>
                    <a:rPr lang="en-US" sz="1600" b="1" i="0" dirty="0">
                      <a:solidFill>
                        <a:srgbClr val="C762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Higher cooling energy consumption</a:t>
                  </a:r>
                  <a:endParaRPr sz="1600" b="1" i="0" dirty="0">
                    <a:solidFill>
                      <a:srgbClr val="C762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B17161F5-167E-CBAC-50EA-FFDD146DF7D0}"/>
                  </a:ext>
                </a:extLst>
              </p:cNvPr>
              <p:cNvGrpSpPr/>
              <p:nvPr/>
            </p:nvGrpSpPr>
            <p:grpSpPr>
              <a:xfrm>
                <a:off x="4895796" y="2796156"/>
                <a:ext cx="2582081" cy="673932"/>
                <a:chOff x="5335363" y="1137384"/>
                <a:chExt cx="2582081" cy="673932"/>
              </a:xfrm>
            </p:grpSpPr>
            <p:sp>
              <p:nvSpPr>
                <p:cNvPr id="8" name="Rounded Rectangle 7">
                  <a:extLst>
                    <a:ext uri="{FF2B5EF4-FFF2-40B4-BE49-F238E27FC236}">
                      <a16:creationId xmlns:a16="http://schemas.microsoft.com/office/drawing/2014/main" id="{86467708-31B4-1624-2A0B-E0200CFE847C}"/>
                    </a:ext>
                  </a:extLst>
                </p:cNvPr>
                <p:cNvSpPr/>
                <p:nvPr/>
              </p:nvSpPr>
              <p:spPr>
                <a:xfrm>
                  <a:off x="5335363" y="1137384"/>
                  <a:ext cx="2582081" cy="673932"/>
                </a:xfrm>
                <a:prstGeom prst="roundRect">
                  <a:avLst>
                    <a:gd name="adj" fmla="val 33402"/>
                  </a:avLst>
                </a:prstGeom>
                <a:solidFill>
                  <a:srgbClr val="FFF8EE"/>
                </a:solidFill>
                <a:ln w="19050">
                  <a:solidFill>
                    <a:srgbClr val="C7620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50ABF90-0CE7-4035-1D27-95D5D8CF4D22}"/>
                    </a:ext>
                  </a:extLst>
                </p:cNvPr>
                <p:cNvSpPr txBox="1"/>
                <p:nvPr/>
              </p:nvSpPr>
              <p:spPr>
                <a:xfrm>
                  <a:off x="5690996" y="1187026"/>
                  <a:ext cx="1878206" cy="566309"/>
                </a:xfrm>
                <a:prstGeom prst="rect">
                  <a:avLst/>
                </a:prstGeom>
                <a:noFill/>
              </p:spPr>
              <p:txBody>
                <a:bodyPr wrap="square" lIns="36576" tIns="36576" rIns="36576" bIns="36576" anchor="ctr">
                  <a:spAutoFit/>
                </a:bodyPr>
                <a:lstStyle/>
                <a:p>
                  <a:pPr algn="ctr"/>
                  <a:r>
                    <a:rPr lang="en-US" sz="1600" b="1" i="0" dirty="0">
                      <a:solidFill>
                        <a:srgbClr val="C762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Reduced equipment reliability</a:t>
                  </a:r>
                  <a:endParaRPr sz="1600" b="1" i="0" dirty="0">
                    <a:solidFill>
                      <a:srgbClr val="C762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2C766AD9-8D6B-F060-FDD1-11D37B502493}"/>
                  </a:ext>
                </a:extLst>
              </p:cNvPr>
              <p:cNvCxnSpPr/>
              <p:nvPr/>
            </p:nvCxnSpPr>
            <p:spPr>
              <a:xfrm flipV="1">
                <a:off x="4144072" y="1555056"/>
                <a:ext cx="660400" cy="2973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90DDA9AB-09DD-F55A-AEB2-68D92607DD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44072" y="2269067"/>
                <a:ext cx="62992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7C32A6A6-D7C8-06F7-3908-5A6B640337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44072" y="2728423"/>
                <a:ext cx="629929" cy="28571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8DC94642-3418-2700-E403-AB94C6E83DCE}"/>
                </a:ext>
              </a:extLst>
            </p:cNvPr>
            <p:cNvGrpSpPr/>
            <p:nvPr/>
          </p:nvGrpSpPr>
          <p:grpSpPr>
            <a:xfrm>
              <a:off x="361875" y="2125966"/>
              <a:ext cx="3054297" cy="1780278"/>
              <a:chOff x="361875" y="2125966"/>
              <a:chExt cx="3054297" cy="1780278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86D4D8E4-F864-6865-1B81-822459BF9A67}"/>
                  </a:ext>
                </a:extLst>
              </p:cNvPr>
              <p:cNvGrpSpPr/>
              <p:nvPr/>
            </p:nvGrpSpPr>
            <p:grpSpPr>
              <a:xfrm>
                <a:off x="361875" y="2125966"/>
                <a:ext cx="2422295" cy="1780278"/>
                <a:chOff x="361875" y="2125966"/>
                <a:chExt cx="2422295" cy="1780278"/>
              </a:xfrm>
            </p:grpSpPr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7823CEFC-8A39-660E-3A5B-CCA3A3A3C9F1}"/>
                    </a:ext>
                  </a:extLst>
                </p:cNvPr>
                <p:cNvGrpSpPr/>
                <p:nvPr/>
              </p:nvGrpSpPr>
              <p:grpSpPr>
                <a:xfrm>
                  <a:off x="361875" y="2125966"/>
                  <a:ext cx="2403170" cy="487982"/>
                  <a:chOff x="485859" y="2172465"/>
                  <a:chExt cx="2403170" cy="487982"/>
                </a:xfrm>
              </p:grpSpPr>
              <p:sp>
                <p:nvSpPr>
                  <p:cNvPr id="30" name="Rounded Rectangle 29">
                    <a:extLst>
                      <a:ext uri="{FF2B5EF4-FFF2-40B4-BE49-F238E27FC236}">
                        <a16:creationId xmlns:a16="http://schemas.microsoft.com/office/drawing/2014/main" id="{4EE7C0E6-91AC-B00F-EA0A-3490A4898113}"/>
                      </a:ext>
                    </a:extLst>
                  </p:cNvPr>
                  <p:cNvSpPr/>
                  <p:nvPr/>
                </p:nvSpPr>
                <p:spPr>
                  <a:xfrm>
                    <a:off x="485859" y="2172465"/>
                    <a:ext cx="2403170" cy="487982"/>
                  </a:xfrm>
                  <a:prstGeom prst="roundRect">
                    <a:avLst>
                      <a:gd name="adj" fmla="val 33402"/>
                    </a:avLst>
                  </a:prstGeom>
                  <a:solidFill>
                    <a:srgbClr val="FFF8EE"/>
                  </a:solidFill>
                  <a:ln w="190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2EE883A1-FF39-4B2E-55D9-FE3FA6C7662F}"/>
                      </a:ext>
                    </a:extLst>
                  </p:cNvPr>
                  <p:cNvSpPr txBox="1"/>
                  <p:nvPr/>
                </p:nvSpPr>
                <p:spPr>
                  <a:xfrm>
                    <a:off x="737474" y="2244454"/>
                    <a:ext cx="1878206" cy="320088"/>
                  </a:xfrm>
                  <a:prstGeom prst="rect">
                    <a:avLst/>
                  </a:prstGeom>
                  <a:noFill/>
                </p:spPr>
                <p:txBody>
                  <a:bodyPr wrap="square" lIns="36576" tIns="36576" rIns="36576" bIns="36576" anchor="ctr">
                    <a:spAutoFit/>
                  </a:bodyPr>
                  <a:lstStyle/>
                  <a:p>
                    <a:pPr algn="ctr"/>
                    <a:r>
                      <a:rPr lang="en-US" sz="1600" b="1" i="0" dirty="0">
                        <a:solidFill>
                          <a:srgbClr val="C762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Nonlinear workload</a:t>
                    </a:r>
                    <a:endParaRPr sz="1600" b="1" i="0" dirty="0">
                      <a:solidFill>
                        <a:srgbClr val="C762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9FDC6CF7-E70B-ED6D-2C84-80299C567909}"/>
                    </a:ext>
                  </a:extLst>
                </p:cNvPr>
                <p:cNvGrpSpPr/>
                <p:nvPr/>
              </p:nvGrpSpPr>
              <p:grpSpPr>
                <a:xfrm>
                  <a:off x="381000" y="3281150"/>
                  <a:ext cx="2403170" cy="625094"/>
                  <a:chOff x="445608" y="1844966"/>
                  <a:chExt cx="2403170" cy="625094"/>
                </a:xfrm>
              </p:grpSpPr>
              <p:sp>
                <p:nvSpPr>
                  <p:cNvPr id="34" name="Rounded Rectangle 33">
                    <a:extLst>
                      <a:ext uri="{FF2B5EF4-FFF2-40B4-BE49-F238E27FC236}">
                        <a16:creationId xmlns:a16="http://schemas.microsoft.com/office/drawing/2014/main" id="{49FCF4DB-5908-9C6A-CD2C-62EC98EF6847}"/>
                      </a:ext>
                    </a:extLst>
                  </p:cNvPr>
                  <p:cNvSpPr/>
                  <p:nvPr/>
                </p:nvSpPr>
                <p:spPr>
                  <a:xfrm>
                    <a:off x="445608" y="1844966"/>
                    <a:ext cx="2403170" cy="625094"/>
                  </a:xfrm>
                  <a:prstGeom prst="roundRect">
                    <a:avLst>
                      <a:gd name="adj" fmla="val 33402"/>
                    </a:avLst>
                  </a:prstGeom>
                  <a:solidFill>
                    <a:srgbClr val="FFF8EE"/>
                  </a:solidFill>
                  <a:ln w="190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DA5E6D18-D4E1-1F7F-5598-67E93132BD6A}"/>
                      </a:ext>
                    </a:extLst>
                  </p:cNvPr>
                  <p:cNvSpPr txBox="1"/>
                  <p:nvPr/>
                </p:nvSpPr>
                <p:spPr>
                  <a:xfrm>
                    <a:off x="678098" y="1891859"/>
                    <a:ext cx="1878206" cy="566309"/>
                  </a:xfrm>
                  <a:prstGeom prst="rect">
                    <a:avLst/>
                  </a:prstGeom>
                  <a:noFill/>
                </p:spPr>
                <p:txBody>
                  <a:bodyPr wrap="square" lIns="36576" tIns="36576" rIns="36576" bIns="36576" anchor="ctr">
                    <a:spAutoFit/>
                  </a:bodyPr>
                  <a:lstStyle/>
                  <a:p>
                    <a:pPr algn="ctr"/>
                    <a:r>
                      <a:rPr lang="en-US" sz="1600" b="1" dirty="0">
                        <a:solidFill>
                          <a:srgbClr val="C762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Environmental factors</a:t>
                    </a:r>
                    <a:endParaRPr sz="1600" b="1" i="0" dirty="0">
                      <a:solidFill>
                        <a:srgbClr val="C762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82B512C3-891F-F170-26DA-F3BE806117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7169" y="2528424"/>
                <a:ext cx="488403" cy="22799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86D97E30-9EEE-5505-8428-273AEAD3838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73725" y="3301190"/>
                <a:ext cx="442447" cy="2838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300371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/>
          <p:nvPr/>
        </p:nvSpPr>
        <p:spPr>
          <a:xfrm>
            <a:off x="269897" y="230304"/>
            <a:ext cx="717504" cy="854298"/>
          </a:xfrm>
          <a:custGeom>
            <a:avLst/>
            <a:gdLst/>
            <a:ahLst/>
            <a:cxnLst/>
            <a:rect l="l" t="t" r="r" b="b"/>
            <a:pathLst>
              <a:path w="537" h="623" extrusionOk="0">
                <a:moveTo>
                  <a:pt x="269" y="0"/>
                </a:moveTo>
                <a:lnTo>
                  <a:pt x="403" y="78"/>
                </a:lnTo>
                <a:lnTo>
                  <a:pt x="537" y="156"/>
                </a:lnTo>
                <a:lnTo>
                  <a:pt x="537" y="311"/>
                </a:lnTo>
                <a:lnTo>
                  <a:pt x="537" y="467"/>
                </a:lnTo>
                <a:lnTo>
                  <a:pt x="403" y="545"/>
                </a:lnTo>
                <a:lnTo>
                  <a:pt x="269" y="623"/>
                </a:lnTo>
                <a:lnTo>
                  <a:pt x="134" y="545"/>
                </a:lnTo>
                <a:lnTo>
                  <a:pt x="0" y="467"/>
                </a:lnTo>
                <a:lnTo>
                  <a:pt x="0" y="311"/>
                </a:lnTo>
                <a:lnTo>
                  <a:pt x="0" y="156"/>
                </a:lnTo>
                <a:lnTo>
                  <a:pt x="134" y="78"/>
                </a:lnTo>
                <a:lnTo>
                  <a:pt x="269" y="0"/>
                </a:lnTo>
                <a:close/>
                <a:moveTo>
                  <a:pt x="269" y="53"/>
                </a:moveTo>
                <a:lnTo>
                  <a:pt x="380" y="117"/>
                </a:lnTo>
                <a:lnTo>
                  <a:pt x="492" y="182"/>
                </a:lnTo>
                <a:lnTo>
                  <a:pt x="492" y="311"/>
                </a:lnTo>
                <a:lnTo>
                  <a:pt x="492" y="441"/>
                </a:lnTo>
                <a:lnTo>
                  <a:pt x="380" y="505"/>
                </a:lnTo>
                <a:lnTo>
                  <a:pt x="269" y="570"/>
                </a:lnTo>
                <a:lnTo>
                  <a:pt x="157" y="505"/>
                </a:lnTo>
                <a:lnTo>
                  <a:pt x="46" y="441"/>
                </a:lnTo>
                <a:lnTo>
                  <a:pt x="46" y="311"/>
                </a:lnTo>
                <a:lnTo>
                  <a:pt x="46" y="182"/>
                </a:lnTo>
                <a:lnTo>
                  <a:pt x="157" y="117"/>
                </a:lnTo>
                <a:lnTo>
                  <a:pt x="269" y="53"/>
                </a:lnTo>
                <a:close/>
                <a:moveTo>
                  <a:pt x="215" y="455"/>
                </a:moveTo>
                <a:lnTo>
                  <a:pt x="367" y="455"/>
                </a:lnTo>
                <a:cubicBezTo>
                  <a:pt x="371" y="455"/>
                  <a:pt x="375" y="458"/>
                  <a:pt x="375" y="463"/>
                </a:cubicBezTo>
                <a:cubicBezTo>
                  <a:pt x="375" y="467"/>
                  <a:pt x="371" y="471"/>
                  <a:pt x="367" y="471"/>
                </a:cubicBezTo>
                <a:lnTo>
                  <a:pt x="215" y="471"/>
                </a:lnTo>
                <a:cubicBezTo>
                  <a:pt x="211" y="471"/>
                  <a:pt x="207" y="467"/>
                  <a:pt x="207" y="463"/>
                </a:cubicBezTo>
                <a:cubicBezTo>
                  <a:pt x="207" y="458"/>
                  <a:pt x="211" y="455"/>
                  <a:pt x="215" y="455"/>
                </a:cubicBezTo>
                <a:close/>
                <a:moveTo>
                  <a:pt x="218" y="380"/>
                </a:moveTo>
                <a:lnTo>
                  <a:pt x="302" y="242"/>
                </a:lnTo>
                <a:lnTo>
                  <a:pt x="331" y="260"/>
                </a:lnTo>
                <a:lnTo>
                  <a:pt x="248" y="398"/>
                </a:lnTo>
                <a:lnTo>
                  <a:pt x="218" y="380"/>
                </a:lnTo>
                <a:close/>
                <a:moveTo>
                  <a:pt x="159" y="344"/>
                </a:moveTo>
                <a:lnTo>
                  <a:pt x="243" y="207"/>
                </a:lnTo>
                <a:lnTo>
                  <a:pt x="272" y="224"/>
                </a:lnTo>
                <a:lnTo>
                  <a:pt x="189" y="362"/>
                </a:lnTo>
                <a:lnTo>
                  <a:pt x="159" y="344"/>
                </a:lnTo>
                <a:close/>
                <a:moveTo>
                  <a:pt x="146" y="456"/>
                </a:moveTo>
                <a:lnTo>
                  <a:pt x="154" y="387"/>
                </a:lnTo>
                <a:lnTo>
                  <a:pt x="211" y="422"/>
                </a:lnTo>
                <a:lnTo>
                  <a:pt x="155" y="461"/>
                </a:lnTo>
                <a:cubicBezTo>
                  <a:pt x="149" y="465"/>
                  <a:pt x="145" y="463"/>
                  <a:pt x="146" y="456"/>
                </a:cubicBezTo>
                <a:close/>
                <a:moveTo>
                  <a:pt x="266" y="168"/>
                </a:moveTo>
                <a:lnTo>
                  <a:pt x="253" y="188"/>
                </a:lnTo>
                <a:lnTo>
                  <a:pt x="342" y="242"/>
                </a:lnTo>
                <a:lnTo>
                  <a:pt x="354" y="222"/>
                </a:lnTo>
                <a:lnTo>
                  <a:pt x="266" y="168"/>
                </a:lnTo>
                <a:close/>
                <a:moveTo>
                  <a:pt x="285" y="138"/>
                </a:moveTo>
                <a:cubicBezTo>
                  <a:pt x="290" y="129"/>
                  <a:pt x="302" y="126"/>
                  <a:pt x="311" y="131"/>
                </a:cubicBezTo>
                <a:lnTo>
                  <a:pt x="366" y="165"/>
                </a:lnTo>
                <a:cubicBezTo>
                  <a:pt x="375" y="170"/>
                  <a:pt x="378" y="182"/>
                  <a:pt x="373" y="191"/>
                </a:cubicBezTo>
                <a:lnTo>
                  <a:pt x="365" y="204"/>
                </a:lnTo>
                <a:lnTo>
                  <a:pt x="277" y="150"/>
                </a:lnTo>
                <a:lnTo>
                  <a:pt x="285" y="138"/>
                </a:lnTo>
                <a:close/>
              </a:path>
            </a:pathLst>
          </a:custGeom>
          <a:solidFill>
            <a:srgbClr val="005BAC"/>
          </a:solidFill>
          <a:ln>
            <a:noFill/>
          </a:ln>
        </p:spPr>
        <p:txBody>
          <a:bodyPr spcFirstLastPara="1" wrap="square" lIns="68525" tIns="34250" rIns="68525" bIns="342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8"/>
          <p:cNvSpPr txBox="1">
            <a:spLocks noGrp="1"/>
          </p:cNvSpPr>
          <p:nvPr>
            <p:ph type="sldNum" idx="12"/>
          </p:nvPr>
        </p:nvSpPr>
        <p:spPr>
          <a:xfrm>
            <a:off x="8456190" y="173163"/>
            <a:ext cx="548700" cy="3936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1600" dirty="0">
                <a:solidFill>
                  <a:srgbClr val="1F2D3D"/>
                </a:solidFill>
                <a:latin typeface="Times New Roman"/>
              </a:rPr>
              <a:t>4</a:t>
            </a:r>
            <a:endParaRPr dirty="0"/>
          </a:p>
        </p:txBody>
      </p:sp>
      <p:sp>
        <p:nvSpPr>
          <p:cNvPr id="97" name="Google Shape;97;p18"/>
          <p:cNvSpPr txBox="1"/>
          <p:nvPr/>
        </p:nvSpPr>
        <p:spPr>
          <a:xfrm>
            <a:off x="381000" y="4801075"/>
            <a:ext cx="8937900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dirty="0">
                <a:solidFill>
                  <a:schemeClr val="tx1"/>
                </a:solidFill>
                <a:latin typeface="Times New Roman"/>
              </a:rPr>
              <a:t>Reference: [1] </a:t>
            </a:r>
            <a:r>
              <a:rPr sz="850" b="0" dirty="0" err="1">
                <a:solidFill>
                  <a:schemeClr val="tx1"/>
                </a:solidFill>
                <a:latin typeface="Times New Roman"/>
              </a:rPr>
              <a:t>Ilager</a:t>
            </a:r>
            <a:r>
              <a:rPr sz="850" b="0" dirty="0">
                <a:solidFill>
                  <a:schemeClr val="tx1"/>
                </a:solidFill>
                <a:latin typeface="Times New Roman"/>
              </a:rPr>
              <a:t> et al., IEEE TPDS, 2021</a:t>
            </a:r>
            <a:r>
              <a:rPr sz="850" b="0" dirty="0">
                <a:solidFill>
                  <a:srgbClr val="5A6772"/>
                </a:solidFill>
                <a:latin typeface="Times New Roman"/>
              </a:rPr>
              <a:t>.</a:t>
            </a:r>
            <a:endParaRPr sz="1000" dirty="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 rotWithShape="1">
          <a:blip r:embed="rId3">
            <a:alphaModFix/>
          </a:blip>
          <a:srcRect l="18545" r="19076"/>
          <a:stretch/>
        </p:blipFill>
        <p:spPr>
          <a:xfrm>
            <a:off x="38725" y="4786575"/>
            <a:ext cx="342275" cy="3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1077432" y="276774"/>
            <a:ext cx="7408200" cy="854298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Research Paper &amp; Research Gap</a:t>
            </a:r>
            <a:endParaRPr sz="2800" dirty="0">
              <a:latin typeface="Times New Roman" panose="02020603050405020304" pitchFamily="18" charset="0"/>
              <a:ea typeface="Comic Sans MS"/>
              <a:cs typeface="Times New Roman" panose="02020603050405020304" pitchFamily="18" charset="0"/>
              <a:sym typeface="Comic Sans M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2792B17-A513-34F2-AA44-0223B6ADBC70}"/>
              </a:ext>
            </a:extLst>
          </p:cNvPr>
          <p:cNvGrpSpPr/>
          <p:nvPr/>
        </p:nvGrpSpPr>
        <p:grpSpPr>
          <a:xfrm>
            <a:off x="914400" y="1613822"/>
            <a:ext cx="2403170" cy="2611562"/>
            <a:chOff x="973868" y="1366194"/>
            <a:chExt cx="2403170" cy="261156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8CC5C46-467C-7488-382D-18B41ADAC613}"/>
                </a:ext>
              </a:extLst>
            </p:cNvPr>
            <p:cNvGrpSpPr/>
            <p:nvPr/>
          </p:nvGrpSpPr>
          <p:grpSpPr>
            <a:xfrm>
              <a:off x="1077430" y="1366194"/>
              <a:ext cx="2196049" cy="854296"/>
              <a:chOff x="987401" y="1526469"/>
              <a:chExt cx="2196049" cy="854296"/>
            </a:xfrm>
          </p:grpSpPr>
          <p:sp>
            <p:nvSpPr>
              <p:cNvPr id="100" name="Rounded Rectangle 99"/>
              <p:cNvSpPr/>
              <p:nvPr/>
            </p:nvSpPr>
            <p:spPr>
              <a:xfrm>
                <a:off x="987401" y="1526469"/>
                <a:ext cx="2196049" cy="854296"/>
              </a:xfrm>
              <a:prstGeom prst="roundRect">
                <a:avLst/>
              </a:prstGeom>
              <a:solidFill>
                <a:srgbClr val="F3F7FB"/>
              </a:solidFill>
              <a:ln w="19050">
                <a:solidFill>
                  <a:srgbClr val="005B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102" name="TextBox 101"/>
              <p:cNvSpPr txBox="1"/>
              <p:nvPr/>
            </p:nvSpPr>
            <p:spPr>
              <a:xfrm>
                <a:off x="1077432" y="1670462"/>
                <a:ext cx="2043941" cy="566309"/>
              </a:xfrm>
              <a:prstGeom prst="rect">
                <a:avLst/>
              </a:prstGeom>
              <a:noFill/>
            </p:spPr>
            <p:txBody>
              <a:bodyPr wrap="square" lIns="36576" tIns="36576" rIns="36576" bIns="36576" anchor="ctr">
                <a:spAutoFit/>
              </a:bodyPr>
              <a:lstStyle/>
              <a:p>
                <a:pPr algn="ctr"/>
                <a:r>
                  <a:rPr lang="en-TW" sz="16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Uses naturally collected host-level data</a:t>
                </a:r>
                <a:endParaRPr sz="1600" b="1" i="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B967E86-6315-FFDB-39E8-C83E4C005561}"/>
                </a:ext>
              </a:extLst>
            </p:cNvPr>
            <p:cNvGrpSpPr/>
            <p:nvPr/>
          </p:nvGrpSpPr>
          <p:grpSpPr>
            <a:xfrm>
              <a:off x="1077430" y="2475736"/>
              <a:ext cx="2196049" cy="403866"/>
              <a:chOff x="1077428" y="2475736"/>
              <a:chExt cx="2196049" cy="403866"/>
            </a:xfrm>
          </p:grpSpPr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F3DA6FE5-3BFA-DEA0-85FD-2B2ED2C48F4D}"/>
                  </a:ext>
                </a:extLst>
              </p:cNvPr>
              <p:cNvSpPr/>
              <p:nvPr/>
            </p:nvSpPr>
            <p:spPr>
              <a:xfrm>
                <a:off x="1077428" y="2475736"/>
                <a:ext cx="2196049" cy="403866"/>
              </a:xfrm>
              <a:prstGeom prst="roundRect">
                <a:avLst/>
              </a:prstGeom>
              <a:solidFill>
                <a:srgbClr val="F3F7FB"/>
              </a:solidFill>
              <a:ln w="19050">
                <a:solidFill>
                  <a:srgbClr val="005B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DFC1BB-CC88-D07F-A98E-55AE1EE4204D}"/>
                  </a:ext>
                </a:extLst>
              </p:cNvPr>
              <p:cNvSpPr txBox="1"/>
              <p:nvPr/>
            </p:nvSpPr>
            <p:spPr>
              <a:xfrm>
                <a:off x="1153481" y="2517031"/>
                <a:ext cx="2043941" cy="320088"/>
              </a:xfrm>
              <a:prstGeom prst="rect">
                <a:avLst/>
              </a:prstGeom>
              <a:noFill/>
            </p:spPr>
            <p:txBody>
              <a:bodyPr wrap="square" lIns="36576" tIns="36576" rIns="36576" bIns="36576" anchor="ctr">
                <a:spAutoFit/>
              </a:bodyPr>
              <a:lstStyle/>
              <a:p>
                <a:pPr algn="ctr"/>
                <a:r>
                  <a:rPr lang="en-US" sz="1600" i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XGBoost</a:t>
                </a:r>
                <a:endParaRPr sz="1600" i="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1B329AE-909C-89A7-B65B-00A1949EA95B}"/>
                </a:ext>
              </a:extLst>
            </p:cNvPr>
            <p:cNvGrpSpPr/>
            <p:nvPr/>
          </p:nvGrpSpPr>
          <p:grpSpPr>
            <a:xfrm>
              <a:off x="973868" y="3573890"/>
              <a:ext cx="2403170" cy="403866"/>
              <a:chOff x="973868" y="3573890"/>
              <a:chExt cx="2403170" cy="403866"/>
            </a:xfrm>
          </p:grpSpPr>
          <p:sp>
            <p:nvSpPr>
              <p:cNvPr id="105" name="Rounded Rectangle 104"/>
              <p:cNvSpPr/>
              <p:nvPr/>
            </p:nvSpPr>
            <p:spPr>
              <a:xfrm>
                <a:off x="973868" y="3573890"/>
                <a:ext cx="2403170" cy="403866"/>
              </a:xfrm>
              <a:prstGeom prst="roundRect">
                <a:avLst>
                  <a:gd name="adj" fmla="val 33402"/>
                </a:avLst>
              </a:prstGeom>
              <a:solidFill>
                <a:srgbClr val="FFF8EE"/>
              </a:solidFill>
              <a:ln w="19050">
                <a:solidFill>
                  <a:srgbClr val="C762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F465B0-31ED-68A6-C7CD-458D5664A4CB}"/>
                  </a:ext>
                </a:extLst>
              </p:cNvPr>
              <p:cNvSpPr txBox="1"/>
              <p:nvPr/>
            </p:nvSpPr>
            <p:spPr>
              <a:xfrm>
                <a:off x="1077429" y="3583006"/>
                <a:ext cx="2196049" cy="320088"/>
              </a:xfrm>
              <a:prstGeom prst="rect">
                <a:avLst/>
              </a:prstGeom>
              <a:noFill/>
            </p:spPr>
            <p:txBody>
              <a:bodyPr wrap="square" lIns="36576" tIns="36576" rIns="36576" bIns="36576" anchor="ctr">
                <a:spAutoFit/>
              </a:bodyPr>
              <a:lstStyle/>
              <a:p>
                <a:pPr algn="ctr"/>
                <a:r>
                  <a:rPr lang="en-TW" sz="1600" dirty="0">
                    <a:solidFill>
                      <a:schemeClr val="accent4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thermal-aware scheduling</a:t>
                </a:r>
                <a:endParaRPr sz="1600" i="0" dirty="0">
                  <a:solidFill>
                    <a:schemeClr val="accent4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8A74DBC-F298-2500-EDA7-A749DBE7F19B}"/>
                </a:ext>
              </a:extLst>
            </p:cNvPr>
            <p:cNvCxnSpPr>
              <a:cxnSpLocks/>
              <a:stCxn id="100" idx="2"/>
              <a:endCxn id="9" idx="0"/>
            </p:cNvCxnSpPr>
            <p:nvPr/>
          </p:nvCxnSpPr>
          <p:spPr>
            <a:xfrm flipH="1">
              <a:off x="2175454" y="2220490"/>
              <a:ext cx="1" cy="2965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76EE3F8-2316-465B-4C20-FACA398D15BE}"/>
                </a:ext>
              </a:extLst>
            </p:cNvPr>
            <p:cNvCxnSpPr>
              <a:cxnSpLocks/>
              <a:stCxn id="8" idx="2"/>
              <a:endCxn id="10" idx="0"/>
            </p:cNvCxnSpPr>
            <p:nvPr/>
          </p:nvCxnSpPr>
          <p:spPr>
            <a:xfrm flipH="1">
              <a:off x="2175454" y="2879602"/>
              <a:ext cx="1" cy="7034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1418010-3D15-7A6E-D85D-534D81D6BFE4}"/>
              </a:ext>
            </a:extLst>
          </p:cNvPr>
          <p:cNvSpPr txBox="1"/>
          <p:nvPr/>
        </p:nvSpPr>
        <p:spPr>
          <a:xfrm>
            <a:off x="4781532" y="2389609"/>
            <a:ext cx="3148835" cy="707886"/>
          </a:xfrm>
          <a:prstGeom prst="rect">
            <a:avLst/>
          </a:prstGeom>
          <a:noFill/>
          <a:ln w="1905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3148835"/>
                      <a:gd name="csY0" fmla="*/ 0 h 707886"/>
                      <a:gd name="csX1" fmla="*/ 3148835 w 3148835"/>
                      <a:gd name="csY1" fmla="*/ 0 h 707886"/>
                      <a:gd name="csX2" fmla="*/ 3148835 w 3148835"/>
                      <a:gd name="csY2" fmla="*/ 707886 h 707886"/>
                      <a:gd name="csX3" fmla="*/ 0 w 3148835"/>
                      <a:gd name="csY3" fmla="*/ 707886 h 707886"/>
                      <a:gd name="csX4" fmla="*/ 0 w 3148835"/>
                      <a:gd name="csY4" fmla="*/ 0 h 70788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148835" h="707886" extrusionOk="0">
                        <a:moveTo>
                          <a:pt x="0" y="0"/>
                        </a:moveTo>
                        <a:cubicBezTo>
                          <a:pt x="1277037" y="118645"/>
                          <a:pt x="1749515" y="116012"/>
                          <a:pt x="3148835" y="0"/>
                        </a:cubicBezTo>
                        <a:cubicBezTo>
                          <a:pt x="3105425" y="186738"/>
                          <a:pt x="3203576" y="428844"/>
                          <a:pt x="3148835" y="707886"/>
                        </a:cubicBezTo>
                        <a:cubicBezTo>
                          <a:pt x="2220003" y="842486"/>
                          <a:pt x="1060822" y="550690"/>
                          <a:pt x="0" y="707886"/>
                        </a:cubicBezTo>
                        <a:cubicBezTo>
                          <a:pt x="50286" y="551974"/>
                          <a:pt x="46678" y="31663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cover all operating conditions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DB640F6-0BB7-7AA0-BC5A-679D88229CA7}"/>
              </a:ext>
            </a:extLst>
          </p:cNvPr>
          <p:cNvCxnSpPr>
            <a:cxnSpLocks/>
          </p:cNvCxnSpPr>
          <p:nvPr/>
        </p:nvCxnSpPr>
        <p:spPr>
          <a:xfrm>
            <a:off x="3576755" y="2040641"/>
            <a:ext cx="1080710" cy="69840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75AC46F-9CB6-62CA-677A-0E5CA016896A}"/>
              </a:ext>
            </a:extLst>
          </p:cNvPr>
          <p:cNvSpPr txBox="1"/>
          <p:nvPr/>
        </p:nvSpPr>
        <p:spPr>
          <a:xfrm>
            <a:off x="5397074" y="1875180"/>
            <a:ext cx="1917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Research Gap</a:t>
            </a:r>
            <a:endParaRPr lang="en-TW" sz="2000" dirty="0">
              <a:solidFill>
                <a:srgbClr val="C0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4F37DA-3333-E8FF-B2B6-2A68F63A893E}"/>
              </a:ext>
            </a:extLst>
          </p:cNvPr>
          <p:cNvSpPr txBox="1"/>
          <p:nvPr/>
        </p:nvSpPr>
        <p:spPr>
          <a:xfrm>
            <a:off x="2065202" y="3278877"/>
            <a:ext cx="1917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thermal states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/>
          <p:nvPr/>
        </p:nvSpPr>
        <p:spPr>
          <a:xfrm>
            <a:off x="269897" y="230304"/>
            <a:ext cx="717504" cy="854298"/>
          </a:xfrm>
          <a:custGeom>
            <a:avLst/>
            <a:gdLst/>
            <a:ahLst/>
            <a:cxnLst/>
            <a:rect l="l" t="t" r="r" b="b"/>
            <a:pathLst>
              <a:path w="537" h="623" extrusionOk="0">
                <a:moveTo>
                  <a:pt x="269" y="0"/>
                </a:moveTo>
                <a:lnTo>
                  <a:pt x="403" y="78"/>
                </a:lnTo>
                <a:lnTo>
                  <a:pt x="537" y="156"/>
                </a:lnTo>
                <a:lnTo>
                  <a:pt x="537" y="311"/>
                </a:lnTo>
                <a:lnTo>
                  <a:pt x="537" y="467"/>
                </a:lnTo>
                <a:lnTo>
                  <a:pt x="403" y="545"/>
                </a:lnTo>
                <a:lnTo>
                  <a:pt x="269" y="623"/>
                </a:lnTo>
                <a:lnTo>
                  <a:pt x="134" y="545"/>
                </a:lnTo>
                <a:lnTo>
                  <a:pt x="0" y="467"/>
                </a:lnTo>
                <a:lnTo>
                  <a:pt x="0" y="311"/>
                </a:lnTo>
                <a:lnTo>
                  <a:pt x="0" y="156"/>
                </a:lnTo>
                <a:lnTo>
                  <a:pt x="134" y="78"/>
                </a:lnTo>
                <a:lnTo>
                  <a:pt x="269" y="0"/>
                </a:lnTo>
                <a:close/>
                <a:moveTo>
                  <a:pt x="269" y="53"/>
                </a:moveTo>
                <a:lnTo>
                  <a:pt x="380" y="117"/>
                </a:lnTo>
                <a:lnTo>
                  <a:pt x="492" y="182"/>
                </a:lnTo>
                <a:lnTo>
                  <a:pt x="492" y="311"/>
                </a:lnTo>
                <a:lnTo>
                  <a:pt x="492" y="441"/>
                </a:lnTo>
                <a:lnTo>
                  <a:pt x="380" y="505"/>
                </a:lnTo>
                <a:lnTo>
                  <a:pt x="269" y="570"/>
                </a:lnTo>
                <a:lnTo>
                  <a:pt x="157" y="505"/>
                </a:lnTo>
                <a:lnTo>
                  <a:pt x="46" y="441"/>
                </a:lnTo>
                <a:lnTo>
                  <a:pt x="46" y="311"/>
                </a:lnTo>
                <a:lnTo>
                  <a:pt x="46" y="182"/>
                </a:lnTo>
                <a:lnTo>
                  <a:pt x="157" y="117"/>
                </a:lnTo>
                <a:lnTo>
                  <a:pt x="269" y="53"/>
                </a:lnTo>
                <a:close/>
                <a:moveTo>
                  <a:pt x="215" y="455"/>
                </a:moveTo>
                <a:lnTo>
                  <a:pt x="367" y="455"/>
                </a:lnTo>
                <a:cubicBezTo>
                  <a:pt x="371" y="455"/>
                  <a:pt x="375" y="458"/>
                  <a:pt x="375" y="463"/>
                </a:cubicBezTo>
                <a:cubicBezTo>
                  <a:pt x="375" y="467"/>
                  <a:pt x="371" y="471"/>
                  <a:pt x="367" y="471"/>
                </a:cubicBezTo>
                <a:lnTo>
                  <a:pt x="215" y="471"/>
                </a:lnTo>
                <a:cubicBezTo>
                  <a:pt x="211" y="471"/>
                  <a:pt x="207" y="467"/>
                  <a:pt x="207" y="463"/>
                </a:cubicBezTo>
                <a:cubicBezTo>
                  <a:pt x="207" y="458"/>
                  <a:pt x="211" y="455"/>
                  <a:pt x="215" y="455"/>
                </a:cubicBezTo>
                <a:close/>
                <a:moveTo>
                  <a:pt x="218" y="380"/>
                </a:moveTo>
                <a:lnTo>
                  <a:pt x="302" y="242"/>
                </a:lnTo>
                <a:lnTo>
                  <a:pt x="331" y="260"/>
                </a:lnTo>
                <a:lnTo>
                  <a:pt x="248" y="398"/>
                </a:lnTo>
                <a:lnTo>
                  <a:pt x="218" y="380"/>
                </a:lnTo>
                <a:close/>
                <a:moveTo>
                  <a:pt x="159" y="344"/>
                </a:moveTo>
                <a:lnTo>
                  <a:pt x="243" y="207"/>
                </a:lnTo>
                <a:lnTo>
                  <a:pt x="272" y="224"/>
                </a:lnTo>
                <a:lnTo>
                  <a:pt x="189" y="362"/>
                </a:lnTo>
                <a:lnTo>
                  <a:pt x="159" y="344"/>
                </a:lnTo>
                <a:close/>
                <a:moveTo>
                  <a:pt x="146" y="456"/>
                </a:moveTo>
                <a:lnTo>
                  <a:pt x="154" y="387"/>
                </a:lnTo>
                <a:lnTo>
                  <a:pt x="211" y="422"/>
                </a:lnTo>
                <a:lnTo>
                  <a:pt x="155" y="461"/>
                </a:lnTo>
                <a:cubicBezTo>
                  <a:pt x="149" y="465"/>
                  <a:pt x="145" y="463"/>
                  <a:pt x="146" y="456"/>
                </a:cubicBezTo>
                <a:close/>
                <a:moveTo>
                  <a:pt x="266" y="168"/>
                </a:moveTo>
                <a:lnTo>
                  <a:pt x="253" y="188"/>
                </a:lnTo>
                <a:lnTo>
                  <a:pt x="342" y="242"/>
                </a:lnTo>
                <a:lnTo>
                  <a:pt x="354" y="222"/>
                </a:lnTo>
                <a:lnTo>
                  <a:pt x="266" y="168"/>
                </a:lnTo>
                <a:close/>
                <a:moveTo>
                  <a:pt x="285" y="138"/>
                </a:moveTo>
                <a:cubicBezTo>
                  <a:pt x="290" y="129"/>
                  <a:pt x="302" y="126"/>
                  <a:pt x="311" y="131"/>
                </a:cubicBezTo>
                <a:lnTo>
                  <a:pt x="366" y="165"/>
                </a:lnTo>
                <a:cubicBezTo>
                  <a:pt x="375" y="170"/>
                  <a:pt x="378" y="182"/>
                  <a:pt x="373" y="191"/>
                </a:cubicBezTo>
                <a:lnTo>
                  <a:pt x="365" y="204"/>
                </a:lnTo>
                <a:lnTo>
                  <a:pt x="277" y="150"/>
                </a:lnTo>
                <a:lnTo>
                  <a:pt x="285" y="138"/>
                </a:lnTo>
                <a:close/>
              </a:path>
            </a:pathLst>
          </a:custGeom>
          <a:solidFill>
            <a:srgbClr val="005BAC"/>
          </a:solidFill>
          <a:ln>
            <a:noFill/>
          </a:ln>
        </p:spPr>
        <p:txBody>
          <a:bodyPr spcFirstLastPara="1" wrap="square" lIns="68525" tIns="34250" rIns="68525" bIns="342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8"/>
          <p:cNvSpPr txBox="1">
            <a:spLocks noGrp="1"/>
          </p:cNvSpPr>
          <p:nvPr>
            <p:ph type="sldNum" idx="12"/>
          </p:nvPr>
        </p:nvSpPr>
        <p:spPr>
          <a:xfrm>
            <a:off x="8456190" y="173163"/>
            <a:ext cx="548700" cy="3936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sz="1600" b="0">
                <a:solidFill>
                  <a:srgbClr val="1F2D3D"/>
                </a:solidFill>
                <a:latin typeface="Times New Roman"/>
              </a:rPr>
              <a:t>4</a:t>
            </a:r>
            <a:endParaRPr/>
          </a:p>
        </p:txBody>
      </p:sp>
      <p:sp>
        <p:nvSpPr>
          <p:cNvPr id="97" name="Google Shape;97;p18"/>
          <p:cNvSpPr txBox="1"/>
          <p:nvPr/>
        </p:nvSpPr>
        <p:spPr>
          <a:xfrm>
            <a:off x="381000" y="4801075"/>
            <a:ext cx="89379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 rotWithShape="1">
          <a:blip r:embed="rId2">
            <a:alphaModFix/>
          </a:blip>
          <a:srcRect l="18545" r="19076"/>
          <a:stretch/>
        </p:blipFill>
        <p:spPr>
          <a:xfrm>
            <a:off x="38725" y="4786575"/>
            <a:ext cx="342275" cy="32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0C95433-C2A8-423C-D97F-BCAF2C711837}"/>
              </a:ext>
            </a:extLst>
          </p:cNvPr>
          <p:cNvGrpSpPr/>
          <p:nvPr/>
        </p:nvGrpSpPr>
        <p:grpSpPr>
          <a:xfrm>
            <a:off x="729510" y="1982012"/>
            <a:ext cx="7772400" cy="2618798"/>
            <a:chOff x="685800" y="1334559"/>
            <a:chExt cx="7772400" cy="255350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E160706-5F54-C346-8E7D-CAFCABE973BF}"/>
                </a:ext>
              </a:extLst>
            </p:cNvPr>
            <p:cNvGrpSpPr/>
            <p:nvPr/>
          </p:nvGrpSpPr>
          <p:grpSpPr>
            <a:xfrm>
              <a:off x="685800" y="1334559"/>
              <a:ext cx="2331720" cy="2553509"/>
              <a:chOff x="685800" y="1334559"/>
              <a:chExt cx="2331720" cy="2553509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9152675E-1DDE-4FB9-4422-38EA11C31941}"/>
                  </a:ext>
                </a:extLst>
              </p:cNvPr>
              <p:cNvGrpSpPr/>
              <p:nvPr/>
            </p:nvGrpSpPr>
            <p:grpSpPr>
              <a:xfrm>
                <a:off x="685800" y="1334559"/>
                <a:ext cx="2331720" cy="2553509"/>
                <a:chOff x="685800" y="1334559"/>
                <a:chExt cx="2331720" cy="2553509"/>
              </a:xfrm>
            </p:grpSpPr>
            <p:sp>
              <p:nvSpPr>
                <p:cNvPr id="100" name="Rounded Rectangle 99"/>
                <p:cNvSpPr/>
                <p:nvPr/>
              </p:nvSpPr>
              <p:spPr>
                <a:xfrm>
                  <a:off x="685800" y="1334559"/>
                  <a:ext cx="2331720" cy="2553509"/>
                </a:xfrm>
                <a:prstGeom prst="roundRect">
                  <a:avLst/>
                </a:prstGeom>
                <a:solidFill>
                  <a:srgbClr val="F3F7FB"/>
                </a:solidFill>
                <a:ln w="19050">
                  <a:solidFill>
                    <a:srgbClr val="005BA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solidFill>
                      <a:schemeClr val="accent6"/>
                    </a:solidFill>
                  </a:endParaRPr>
                </a:p>
              </p:txBody>
            </p:sp>
            <p:sp>
              <p:nvSpPr>
                <p:cNvPr id="102" name="TextBox 101"/>
                <p:cNvSpPr txBox="1"/>
                <p:nvPr/>
              </p:nvSpPr>
              <p:spPr>
                <a:xfrm>
                  <a:off x="832104" y="1490472"/>
                  <a:ext cx="2112263" cy="310896"/>
                </a:xfrm>
                <a:prstGeom prst="rect">
                  <a:avLst/>
                </a:prstGeom>
                <a:noFill/>
              </p:spPr>
              <p:txBody>
                <a:bodyPr wrap="square" lIns="36576" tIns="36576" rIns="36576" bIns="36576" anchor="ctr">
                  <a:spAutoFit/>
                </a:bodyPr>
                <a:lstStyle/>
                <a:p>
                  <a:pPr algn="ctr"/>
                  <a:r>
                    <a:rPr sz="1550" b="1" i="0" dirty="0">
                      <a:solidFill>
                        <a:srgbClr val="005BAC"/>
                      </a:solidFill>
                      <a:latin typeface="Times New Roman"/>
                    </a:rPr>
                    <a:t>Controlled Conditions</a:t>
                  </a:r>
                </a:p>
              </p:txBody>
            </p:sp>
          </p:grpSp>
          <p:sp>
            <p:nvSpPr>
              <p:cNvPr id="103" name="TextBox 102"/>
              <p:cNvSpPr txBox="1"/>
              <p:nvPr/>
            </p:nvSpPr>
            <p:spPr>
              <a:xfrm>
                <a:off x="877824" y="1852123"/>
                <a:ext cx="1956816" cy="1829506"/>
              </a:xfrm>
              <a:prstGeom prst="rect">
                <a:avLst/>
              </a:prstGeom>
              <a:noFill/>
            </p:spPr>
            <p:txBody>
              <a:bodyPr wrap="square" lIns="36576" tIns="36576" rIns="36576" bIns="36576" anchor="t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1600" b="0" i="0" dirty="0">
                    <a:solidFill>
                      <a:srgbClr val="002060"/>
                    </a:solidFill>
                    <a:latin typeface="Times New Roman"/>
                  </a:rPr>
                  <a:t>Workload</a:t>
                </a:r>
                <a:r>
                  <a:rPr sz="1600" b="0" i="0" dirty="0">
                    <a:solidFill>
                      <a:srgbClr val="002060"/>
                    </a:solidFill>
                    <a:latin typeface="Times New Roman"/>
                  </a:rPr>
                  <a:t>
• Low
• Medium
• High
• Burst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76A8C59-9A06-1FB2-64DC-09193718B5E9}"/>
                </a:ext>
              </a:extLst>
            </p:cNvPr>
            <p:cNvGrpSpPr/>
            <p:nvPr/>
          </p:nvGrpSpPr>
          <p:grpSpPr>
            <a:xfrm>
              <a:off x="3246120" y="1334559"/>
              <a:ext cx="2743200" cy="2553509"/>
              <a:chOff x="3246120" y="1334559"/>
              <a:chExt cx="2743200" cy="2553509"/>
            </a:xfrm>
          </p:grpSpPr>
          <p:sp>
            <p:nvSpPr>
              <p:cNvPr id="104" name="Rounded Rectangle 103"/>
              <p:cNvSpPr/>
              <p:nvPr/>
            </p:nvSpPr>
            <p:spPr>
              <a:xfrm>
                <a:off x="3246120" y="1334559"/>
                <a:ext cx="2743200" cy="2553509"/>
              </a:xfrm>
              <a:prstGeom prst="roundRect">
                <a:avLst/>
              </a:prstGeom>
              <a:solidFill>
                <a:srgbClr val="F3F7FB"/>
              </a:solidFill>
              <a:ln w="19050">
                <a:solidFill>
                  <a:srgbClr val="005B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TextBox 105"/>
              <p:cNvSpPr txBox="1"/>
              <p:nvPr/>
            </p:nvSpPr>
            <p:spPr>
              <a:xfrm>
                <a:off x="3392424" y="1377327"/>
                <a:ext cx="2523744" cy="537185"/>
              </a:xfrm>
              <a:prstGeom prst="rect">
                <a:avLst/>
              </a:prstGeom>
              <a:noFill/>
            </p:spPr>
            <p:txBody>
              <a:bodyPr wrap="square" lIns="36576" tIns="36576" rIns="36576" bIns="36576" anchor="ctr">
                <a:spAutoFit/>
              </a:bodyPr>
              <a:lstStyle/>
              <a:p>
                <a:pPr algn="ctr"/>
                <a:r>
                  <a:rPr sz="1550" b="1" i="0" dirty="0">
                    <a:solidFill>
                      <a:srgbClr val="005BAC"/>
                    </a:solidFill>
                    <a:latin typeface="Times New Roman"/>
                  </a:rPr>
                  <a:t>Measured Telemetry</a:t>
                </a:r>
                <a:r>
                  <a:rPr lang="en-US" sz="1550" b="1" i="0" dirty="0">
                    <a:solidFill>
                      <a:srgbClr val="005BAC"/>
                    </a:solidFill>
                    <a:latin typeface="Times New Roman"/>
                  </a:rPr>
                  <a:t>-</a:t>
                </a:r>
                <a:r>
                  <a:rPr lang="en-US" sz="1550" b="1" i="0" dirty="0" err="1">
                    <a:solidFill>
                      <a:srgbClr val="005BAC"/>
                    </a:solidFill>
                    <a:latin typeface="Times New Roman"/>
                  </a:rPr>
                  <a:t>Cortexdc</a:t>
                </a:r>
                <a:endParaRPr sz="1550" b="1" i="0" dirty="0">
                  <a:solidFill>
                    <a:srgbClr val="005BAC"/>
                  </a:solidFill>
                  <a:latin typeface="Times New Roman"/>
                </a:endParaRPr>
              </a:p>
            </p:txBody>
          </p:sp>
          <p:sp>
            <p:nvSpPr>
              <p:cNvPr id="107" name="TextBox 106"/>
              <p:cNvSpPr txBox="1"/>
              <p:nvPr/>
            </p:nvSpPr>
            <p:spPr>
              <a:xfrm>
                <a:off x="3392424" y="1858437"/>
                <a:ext cx="2523744" cy="1829506"/>
              </a:xfrm>
              <a:prstGeom prst="rect">
                <a:avLst/>
              </a:prstGeom>
              <a:noFill/>
            </p:spPr>
            <p:txBody>
              <a:bodyPr wrap="square" lIns="36576" tIns="36576" rIns="36576" bIns="36576" anchor="t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200" b="0" i="0" dirty="0">
                    <a:solidFill>
                      <a:srgbClr val="002060"/>
                    </a:solidFill>
                    <a:latin typeface="Times New Roman"/>
                  </a:rPr>
                  <a:t>•</a:t>
                </a:r>
                <a:r>
                  <a:rPr lang="en-US" sz="1200" b="0" i="0" dirty="0">
                    <a:solidFill>
                      <a:srgbClr val="002060"/>
                    </a:solidFill>
                    <a:latin typeface="Times New Roman"/>
                  </a:rPr>
                  <a:t> </a:t>
                </a:r>
                <a:r>
                  <a:rPr sz="1600" b="0" i="0" dirty="0">
                    <a:solidFill>
                      <a:srgbClr val="002060"/>
                    </a:solidFill>
                    <a:latin typeface="Times New Roman"/>
                  </a:rPr>
                  <a:t>CPU usage
• CPU temperature
• Server  power
• Fan speed
• Timestamp + Server ID</a:t>
                </a:r>
                <a:endParaRPr sz="1200" b="0" i="0" dirty="0">
                  <a:solidFill>
                    <a:srgbClr val="002060"/>
                  </a:solidFill>
                  <a:latin typeface="Times New Roman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D76332C-C973-D788-3AC9-E3835FE7B2A5}"/>
                </a:ext>
              </a:extLst>
            </p:cNvPr>
            <p:cNvGrpSpPr/>
            <p:nvPr/>
          </p:nvGrpSpPr>
          <p:grpSpPr>
            <a:xfrm>
              <a:off x="6217920" y="1334559"/>
              <a:ext cx="2240280" cy="2553508"/>
              <a:chOff x="6217920" y="1334559"/>
              <a:chExt cx="2240280" cy="2553508"/>
            </a:xfrm>
          </p:grpSpPr>
          <p:sp>
            <p:nvSpPr>
              <p:cNvPr id="108" name="Rounded Rectangle 107"/>
              <p:cNvSpPr/>
              <p:nvPr/>
            </p:nvSpPr>
            <p:spPr>
              <a:xfrm>
                <a:off x="6217920" y="1334559"/>
                <a:ext cx="2240280" cy="2553508"/>
              </a:xfrm>
              <a:prstGeom prst="roundRect">
                <a:avLst/>
              </a:prstGeom>
              <a:solidFill>
                <a:srgbClr val="F1F8F2"/>
              </a:solidFill>
              <a:ln w="19050">
                <a:solidFill>
                  <a:srgbClr val="2E7D3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6327648" y="1490472"/>
                <a:ext cx="2020824" cy="310896"/>
              </a:xfrm>
              <a:prstGeom prst="rect">
                <a:avLst/>
              </a:prstGeom>
              <a:noFill/>
            </p:spPr>
            <p:txBody>
              <a:bodyPr wrap="square" lIns="36576" tIns="36576" rIns="36576" bIns="36576" anchor="ctr">
                <a:spAutoFit/>
              </a:bodyPr>
              <a:lstStyle/>
              <a:p>
                <a:pPr algn="ctr"/>
                <a:r>
                  <a:rPr sz="1550" b="1" i="0" dirty="0">
                    <a:solidFill>
                      <a:srgbClr val="2E7D32"/>
                    </a:solidFill>
                    <a:latin typeface="Times New Roman"/>
                  </a:rPr>
                  <a:t>Prediction Targets</a:t>
                </a:r>
              </a:p>
            </p:txBody>
          </p:sp>
          <p:sp>
            <p:nvSpPr>
              <p:cNvPr id="111" name="TextBox 110"/>
              <p:cNvSpPr txBox="1"/>
              <p:nvPr/>
            </p:nvSpPr>
            <p:spPr>
              <a:xfrm>
                <a:off x="6327648" y="1957280"/>
                <a:ext cx="2020824" cy="1469381"/>
              </a:xfrm>
              <a:prstGeom prst="rect">
                <a:avLst/>
              </a:prstGeom>
              <a:noFill/>
            </p:spPr>
            <p:txBody>
              <a:bodyPr wrap="square" lIns="36576" tIns="36576" rIns="36576" bIns="36576" anchor="t">
                <a:spAutoFit/>
              </a:bodyPr>
              <a:lstStyle/>
              <a:p>
                <a:pPr marL="285750" indent="-2857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sz="1600" b="0" i="0" dirty="0">
                    <a:solidFill>
                      <a:srgbClr val="4D9700"/>
                    </a:solidFill>
                    <a:latin typeface="Times New Roman"/>
                  </a:rPr>
                  <a:t>Future temperature</a:t>
                </a:r>
                <a:endParaRPr lang="en-US" sz="1600" b="0" i="0" dirty="0">
                  <a:solidFill>
                    <a:srgbClr val="4D9700"/>
                  </a:solidFill>
                  <a:latin typeface="Times New Roman"/>
                </a:endParaRPr>
              </a:p>
              <a:p>
                <a:pPr marL="285750" indent="-2857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sz="1600" b="0" i="0" dirty="0">
                    <a:solidFill>
                      <a:srgbClr val="4D9700"/>
                    </a:solidFill>
                    <a:latin typeface="Times New Roman"/>
                  </a:rPr>
                  <a:t>T(t + </a:t>
                </a:r>
                <a:r>
                  <a:rPr sz="1600" b="0" i="0" dirty="0" err="1">
                    <a:solidFill>
                      <a:srgbClr val="4D9700"/>
                    </a:solidFill>
                    <a:latin typeface="Times New Roman"/>
                  </a:rPr>
                  <a:t>Δt</a:t>
                </a:r>
                <a:r>
                  <a:rPr sz="1600" b="0" i="0" dirty="0">
                    <a:solidFill>
                      <a:srgbClr val="4D9700"/>
                    </a:solidFill>
                    <a:latin typeface="Times New Roman"/>
                  </a:rPr>
                  <a:t>)
Future power
P(t + </a:t>
                </a:r>
                <a:r>
                  <a:rPr sz="1600" b="0" i="0" dirty="0" err="1">
                    <a:solidFill>
                      <a:srgbClr val="4D9700"/>
                    </a:solidFill>
                    <a:latin typeface="Times New Roman"/>
                  </a:rPr>
                  <a:t>Δt</a:t>
                </a:r>
                <a:r>
                  <a:rPr sz="1600" b="0" i="0" dirty="0">
                    <a:solidFill>
                      <a:srgbClr val="4D9700"/>
                    </a:solidFill>
                    <a:latin typeface="Times New Roman"/>
                  </a:rPr>
                  <a:t>)</a:t>
                </a:r>
              </a:p>
            </p:txBody>
          </p:sp>
        </p:grpSp>
        <p:cxnSp>
          <p:nvCxnSpPr>
            <p:cNvPr id="112" name="Connector 111"/>
            <p:cNvCxnSpPr/>
            <p:nvPr/>
          </p:nvCxnSpPr>
          <p:spPr>
            <a:xfrm>
              <a:off x="3017520" y="2578608"/>
              <a:ext cx="182880" cy="0"/>
            </a:xfrm>
            <a:prstGeom prst="line">
              <a:avLst/>
            </a:prstGeom>
            <a:ln w="22860">
              <a:solidFill>
                <a:srgbClr val="005BA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or 112"/>
            <p:cNvCxnSpPr/>
            <p:nvPr/>
          </p:nvCxnSpPr>
          <p:spPr>
            <a:xfrm>
              <a:off x="5989320" y="2578608"/>
              <a:ext cx="182880" cy="0"/>
            </a:xfrm>
            <a:prstGeom prst="line">
              <a:avLst/>
            </a:prstGeom>
            <a:ln w="22860">
              <a:solidFill>
                <a:srgbClr val="005BA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4" name="TextBox 113"/>
          <p:cNvSpPr txBox="1"/>
          <p:nvPr/>
        </p:nvSpPr>
        <p:spPr>
          <a:xfrm>
            <a:off x="1049550" y="4652863"/>
            <a:ext cx="713232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400" b="1" i="0" dirty="0">
                <a:solidFill>
                  <a:srgbClr val="003868"/>
                </a:solidFill>
                <a:latin typeface="Times New Roman"/>
              </a:rPr>
              <a:t>All measurements are aligned by timestamp and stored as a reproducible time-series dataset.</a:t>
            </a:r>
          </a:p>
        </p:txBody>
      </p:sp>
      <p:sp>
        <p:nvSpPr>
          <p:cNvPr id="5" name="Google Shape;99;p18">
            <a:extLst>
              <a:ext uri="{FF2B5EF4-FFF2-40B4-BE49-F238E27FC236}">
                <a16:creationId xmlns:a16="http://schemas.microsoft.com/office/drawing/2014/main" id="{861D96EE-E210-772A-8180-4E5AACE2CEA0}"/>
              </a:ext>
            </a:extLst>
          </p:cNvPr>
          <p:cNvSpPr txBox="1">
            <a:spLocks/>
          </p:cNvSpPr>
          <p:nvPr/>
        </p:nvSpPr>
        <p:spPr>
          <a:xfrm>
            <a:off x="1247664" y="285386"/>
            <a:ext cx="7408200" cy="854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omic Sans MS"/>
                <a:cs typeface="Times New Roman" panose="02020603050405020304" pitchFamily="18" charset="0"/>
                <a:sym typeface="Comic Sans MS"/>
              </a:rPr>
              <a:t>Proposal-Motivation &amp; Method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3D860C-E6EC-1CC1-C3EF-73FE0305293C}"/>
              </a:ext>
            </a:extLst>
          </p:cNvPr>
          <p:cNvSpPr txBox="1"/>
          <p:nvPr/>
        </p:nvSpPr>
        <p:spPr>
          <a:xfrm>
            <a:off x="1185126" y="1205935"/>
            <a:ext cx="6867672" cy="62786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lang="en-US" sz="18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Motivation: Can </a:t>
            </a:r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controlled network traffic</a:t>
            </a:r>
            <a:r>
              <a:rPr lang="en-US" sz="18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improve future server temperature and power prediction?</a:t>
            </a:r>
          </a:p>
        </p:txBody>
      </p:sp>
      <p:pic>
        <p:nvPicPr>
          <p:cNvPr id="15" name="Graphic 14" descr="Crown with solid fill">
            <a:extLst>
              <a:ext uri="{FF2B5EF4-FFF2-40B4-BE49-F238E27FC236}">
                <a16:creationId xmlns:a16="http://schemas.microsoft.com/office/drawing/2014/main" id="{D355E0A8-6E05-5B02-62A0-E1A69FA0D5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654893">
            <a:off x="543387" y="1540710"/>
            <a:ext cx="531354" cy="5313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/>
          <p:nvPr/>
        </p:nvSpPr>
        <p:spPr>
          <a:xfrm>
            <a:off x="269897" y="230304"/>
            <a:ext cx="717504" cy="854298"/>
          </a:xfrm>
          <a:custGeom>
            <a:avLst/>
            <a:gdLst/>
            <a:ahLst/>
            <a:cxnLst/>
            <a:rect l="l" t="t" r="r" b="b"/>
            <a:pathLst>
              <a:path w="537" h="623" extrusionOk="0">
                <a:moveTo>
                  <a:pt x="269" y="0"/>
                </a:moveTo>
                <a:lnTo>
                  <a:pt x="403" y="78"/>
                </a:lnTo>
                <a:lnTo>
                  <a:pt x="537" y="156"/>
                </a:lnTo>
                <a:lnTo>
                  <a:pt x="537" y="311"/>
                </a:lnTo>
                <a:lnTo>
                  <a:pt x="537" y="467"/>
                </a:lnTo>
                <a:lnTo>
                  <a:pt x="403" y="545"/>
                </a:lnTo>
                <a:lnTo>
                  <a:pt x="269" y="623"/>
                </a:lnTo>
                <a:lnTo>
                  <a:pt x="134" y="545"/>
                </a:lnTo>
                <a:lnTo>
                  <a:pt x="0" y="467"/>
                </a:lnTo>
                <a:lnTo>
                  <a:pt x="0" y="311"/>
                </a:lnTo>
                <a:lnTo>
                  <a:pt x="0" y="156"/>
                </a:lnTo>
                <a:lnTo>
                  <a:pt x="134" y="78"/>
                </a:lnTo>
                <a:lnTo>
                  <a:pt x="269" y="0"/>
                </a:lnTo>
                <a:close/>
                <a:moveTo>
                  <a:pt x="269" y="53"/>
                </a:moveTo>
                <a:lnTo>
                  <a:pt x="380" y="117"/>
                </a:lnTo>
                <a:lnTo>
                  <a:pt x="492" y="182"/>
                </a:lnTo>
                <a:lnTo>
                  <a:pt x="492" y="311"/>
                </a:lnTo>
                <a:lnTo>
                  <a:pt x="492" y="441"/>
                </a:lnTo>
                <a:lnTo>
                  <a:pt x="380" y="505"/>
                </a:lnTo>
                <a:lnTo>
                  <a:pt x="269" y="570"/>
                </a:lnTo>
                <a:lnTo>
                  <a:pt x="157" y="505"/>
                </a:lnTo>
                <a:lnTo>
                  <a:pt x="46" y="441"/>
                </a:lnTo>
                <a:lnTo>
                  <a:pt x="46" y="311"/>
                </a:lnTo>
                <a:lnTo>
                  <a:pt x="46" y="182"/>
                </a:lnTo>
                <a:lnTo>
                  <a:pt x="157" y="117"/>
                </a:lnTo>
                <a:lnTo>
                  <a:pt x="269" y="53"/>
                </a:lnTo>
                <a:close/>
                <a:moveTo>
                  <a:pt x="215" y="455"/>
                </a:moveTo>
                <a:lnTo>
                  <a:pt x="367" y="455"/>
                </a:lnTo>
                <a:cubicBezTo>
                  <a:pt x="371" y="455"/>
                  <a:pt x="375" y="458"/>
                  <a:pt x="375" y="463"/>
                </a:cubicBezTo>
                <a:cubicBezTo>
                  <a:pt x="375" y="467"/>
                  <a:pt x="371" y="471"/>
                  <a:pt x="367" y="471"/>
                </a:cubicBezTo>
                <a:lnTo>
                  <a:pt x="215" y="471"/>
                </a:lnTo>
                <a:cubicBezTo>
                  <a:pt x="211" y="471"/>
                  <a:pt x="207" y="467"/>
                  <a:pt x="207" y="463"/>
                </a:cubicBezTo>
                <a:cubicBezTo>
                  <a:pt x="207" y="458"/>
                  <a:pt x="211" y="455"/>
                  <a:pt x="215" y="455"/>
                </a:cubicBezTo>
                <a:close/>
                <a:moveTo>
                  <a:pt x="218" y="380"/>
                </a:moveTo>
                <a:lnTo>
                  <a:pt x="302" y="242"/>
                </a:lnTo>
                <a:lnTo>
                  <a:pt x="331" y="260"/>
                </a:lnTo>
                <a:lnTo>
                  <a:pt x="248" y="398"/>
                </a:lnTo>
                <a:lnTo>
                  <a:pt x="218" y="380"/>
                </a:lnTo>
                <a:close/>
                <a:moveTo>
                  <a:pt x="159" y="344"/>
                </a:moveTo>
                <a:lnTo>
                  <a:pt x="243" y="207"/>
                </a:lnTo>
                <a:lnTo>
                  <a:pt x="272" y="224"/>
                </a:lnTo>
                <a:lnTo>
                  <a:pt x="189" y="362"/>
                </a:lnTo>
                <a:lnTo>
                  <a:pt x="159" y="344"/>
                </a:lnTo>
                <a:close/>
                <a:moveTo>
                  <a:pt x="146" y="456"/>
                </a:moveTo>
                <a:lnTo>
                  <a:pt x="154" y="387"/>
                </a:lnTo>
                <a:lnTo>
                  <a:pt x="211" y="422"/>
                </a:lnTo>
                <a:lnTo>
                  <a:pt x="155" y="461"/>
                </a:lnTo>
                <a:cubicBezTo>
                  <a:pt x="149" y="465"/>
                  <a:pt x="145" y="463"/>
                  <a:pt x="146" y="456"/>
                </a:cubicBezTo>
                <a:close/>
                <a:moveTo>
                  <a:pt x="266" y="168"/>
                </a:moveTo>
                <a:lnTo>
                  <a:pt x="253" y="188"/>
                </a:lnTo>
                <a:lnTo>
                  <a:pt x="342" y="242"/>
                </a:lnTo>
                <a:lnTo>
                  <a:pt x="354" y="222"/>
                </a:lnTo>
                <a:lnTo>
                  <a:pt x="266" y="168"/>
                </a:lnTo>
                <a:close/>
                <a:moveTo>
                  <a:pt x="285" y="138"/>
                </a:moveTo>
                <a:cubicBezTo>
                  <a:pt x="290" y="129"/>
                  <a:pt x="302" y="126"/>
                  <a:pt x="311" y="131"/>
                </a:cubicBezTo>
                <a:lnTo>
                  <a:pt x="366" y="165"/>
                </a:lnTo>
                <a:cubicBezTo>
                  <a:pt x="375" y="170"/>
                  <a:pt x="378" y="182"/>
                  <a:pt x="373" y="191"/>
                </a:cubicBezTo>
                <a:lnTo>
                  <a:pt x="365" y="204"/>
                </a:lnTo>
                <a:lnTo>
                  <a:pt x="277" y="150"/>
                </a:lnTo>
                <a:lnTo>
                  <a:pt x="285" y="138"/>
                </a:lnTo>
                <a:close/>
              </a:path>
            </a:pathLst>
          </a:custGeom>
          <a:solidFill>
            <a:srgbClr val="005BAC"/>
          </a:solidFill>
          <a:ln>
            <a:noFill/>
          </a:ln>
        </p:spPr>
        <p:txBody>
          <a:bodyPr spcFirstLastPara="1" wrap="square" lIns="68525" tIns="34250" rIns="68525" bIns="342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8"/>
          <p:cNvSpPr txBox="1">
            <a:spLocks noGrp="1"/>
          </p:cNvSpPr>
          <p:nvPr>
            <p:ph type="sldNum" idx="12"/>
          </p:nvPr>
        </p:nvSpPr>
        <p:spPr>
          <a:xfrm>
            <a:off x="8456190" y="173163"/>
            <a:ext cx="548700" cy="3936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sz="1600" b="0">
                <a:solidFill>
                  <a:srgbClr val="1F2D3D"/>
                </a:solidFill>
                <a:latin typeface="Times New Roman"/>
              </a:rPr>
              <a:t>6</a:t>
            </a:r>
            <a:endParaRPr/>
          </a:p>
        </p:txBody>
      </p:sp>
      <p:sp>
        <p:nvSpPr>
          <p:cNvPr id="97" name="Google Shape;97;p18"/>
          <p:cNvSpPr txBox="1"/>
          <p:nvPr/>
        </p:nvSpPr>
        <p:spPr>
          <a:xfrm>
            <a:off x="381000" y="4801075"/>
            <a:ext cx="89379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 rotWithShape="1">
          <a:blip r:embed="rId3">
            <a:alphaModFix/>
          </a:blip>
          <a:srcRect l="18545" r="19076"/>
          <a:stretch/>
        </p:blipFill>
        <p:spPr>
          <a:xfrm>
            <a:off x="38725" y="4786575"/>
            <a:ext cx="342275" cy="3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1215369" y="197679"/>
            <a:ext cx="74082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r>
              <a:rPr sz="2800" b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Times New Roman"/>
              </a:rPr>
              <a:t> </a:t>
            </a:r>
            <a:endParaRPr sz="3600" dirty="0">
              <a:solidFill>
                <a:schemeClr val="tx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6E6C576-2B5C-CDAE-3F33-93BDBFC13F1C}"/>
              </a:ext>
            </a:extLst>
          </p:cNvPr>
          <p:cNvGrpSpPr/>
          <p:nvPr/>
        </p:nvGrpSpPr>
        <p:grpSpPr>
          <a:xfrm>
            <a:off x="5225419" y="1938730"/>
            <a:ext cx="1312166" cy="2016821"/>
            <a:chOff x="729805" y="1700286"/>
            <a:chExt cx="2216911" cy="1928087"/>
          </a:xfrm>
        </p:grpSpPr>
        <p:sp>
          <p:nvSpPr>
            <p:cNvPr id="104" name="Rounded Rectangle 103"/>
            <p:cNvSpPr/>
            <p:nvPr/>
          </p:nvSpPr>
          <p:spPr>
            <a:xfrm>
              <a:off x="729805" y="1700286"/>
              <a:ext cx="2103120" cy="1805939"/>
            </a:xfrm>
            <a:prstGeom prst="roundRect">
              <a:avLst/>
            </a:prstGeom>
            <a:solidFill>
              <a:srgbClr val="F3F7FB"/>
            </a:solidFill>
            <a:ln w="19050">
              <a:solidFill>
                <a:srgbClr val="005B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836616" y="1757861"/>
              <a:ext cx="1883663" cy="32008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sz="1600" b="1" i="0" dirty="0">
                  <a:solidFill>
                    <a:srgbClr val="005BAC"/>
                  </a:solidFill>
                  <a:latin typeface="Times New Roman"/>
                </a:rPr>
                <a:t>Models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843596" y="2146752"/>
              <a:ext cx="2103120" cy="1481621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sz="1600" b="0" i="0" dirty="0">
                  <a:solidFill>
                    <a:srgbClr val="002060"/>
                  </a:solidFill>
                  <a:latin typeface="Times New Roman"/>
                </a:rPr>
                <a:t>• Persistence </a:t>
              </a:r>
              <a:r>
                <a:rPr lang="en-TW" sz="1600" b="0" i="0" dirty="0">
                  <a:solidFill>
                    <a:srgbClr val="002060"/>
                  </a:solidFill>
                  <a:latin typeface="Times New Roman"/>
                </a:rPr>
                <a:t>
• </a:t>
              </a:r>
              <a:r>
                <a:rPr lang="en-US" sz="1600" dirty="0" err="1">
                  <a:solidFill>
                    <a:srgbClr val="002060"/>
                  </a:solidFill>
                  <a:latin typeface="Times New Roman"/>
                </a:rPr>
                <a:t>XGBoost</a:t>
              </a:r>
              <a:r>
                <a:rPr lang="en-US" sz="1600" dirty="0">
                  <a:solidFill>
                    <a:srgbClr val="002060"/>
                  </a:solidFill>
                  <a:latin typeface="Times New Roman"/>
                </a:rPr>
                <a:t> </a:t>
              </a:r>
              <a:endParaRPr lang="en-US" sz="1600" b="0" i="0" dirty="0">
                <a:solidFill>
                  <a:srgbClr val="002060"/>
                </a:solidFill>
                <a:latin typeface="Times New Roman"/>
              </a:endParaRPr>
            </a:p>
            <a:p>
              <a:pPr algn="l"/>
              <a:endParaRPr lang="en-TW" b="0" i="0" dirty="0">
                <a:solidFill>
                  <a:srgbClr val="002060"/>
                </a:solidFill>
                <a:latin typeface="Times New Roman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F5B8A72-8BF7-DC90-064A-CEC21D68483A}"/>
              </a:ext>
            </a:extLst>
          </p:cNvPr>
          <p:cNvGrpSpPr/>
          <p:nvPr/>
        </p:nvGrpSpPr>
        <p:grpSpPr>
          <a:xfrm>
            <a:off x="2166009" y="1200610"/>
            <a:ext cx="2609155" cy="3517108"/>
            <a:chOff x="2776286" y="1216395"/>
            <a:chExt cx="3183225" cy="351710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F9B592F-94D7-6F66-A115-AAA1F46F9DC0}"/>
                </a:ext>
              </a:extLst>
            </p:cNvPr>
            <p:cNvGrpSpPr/>
            <p:nvPr/>
          </p:nvGrpSpPr>
          <p:grpSpPr>
            <a:xfrm>
              <a:off x="2776286" y="1216395"/>
              <a:ext cx="3154223" cy="1612797"/>
              <a:chOff x="3082935" y="1686967"/>
              <a:chExt cx="2533321" cy="1866196"/>
            </a:xfrm>
          </p:grpSpPr>
          <p:sp>
            <p:nvSpPr>
              <p:cNvPr id="108" name="Rounded Rectangle 107"/>
              <p:cNvSpPr/>
              <p:nvPr/>
            </p:nvSpPr>
            <p:spPr>
              <a:xfrm>
                <a:off x="3106229" y="1686967"/>
                <a:ext cx="2510027" cy="1866196"/>
              </a:xfrm>
              <a:prstGeom prst="roundRect">
                <a:avLst/>
              </a:prstGeom>
              <a:solidFill>
                <a:srgbClr val="F3F7FB"/>
              </a:solidFill>
              <a:ln w="19050">
                <a:solidFill>
                  <a:srgbClr val="005B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3305110" y="1765016"/>
                <a:ext cx="2112263" cy="320088"/>
              </a:xfrm>
              <a:prstGeom prst="rect">
                <a:avLst/>
              </a:prstGeom>
              <a:noFill/>
            </p:spPr>
            <p:txBody>
              <a:bodyPr wrap="square" lIns="36576" tIns="36576" rIns="36576" bIns="36576" anchor="ctr">
                <a:spAutoFit/>
              </a:bodyPr>
              <a:lstStyle/>
              <a:p>
                <a:pPr algn="ctr"/>
                <a:r>
                  <a:rPr sz="1600" b="1" i="0" dirty="0">
                    <a:solidFill>
                      <a:srgbClr val="005BAC"/>
                    </a:solidFill>
                    <a:latin typeface="Times New Roman"/>
                  </a:rPr>
                  <a:t>Feature Set A</a:t>
                </a:r>
                <a:endParaRPr lang="en-US" sz="1600" b="1" i="0" dirty="0">
                  <a:solidFill>
                    <a:srgbClr val="005BAC"/>
                  </a:solidFill>
                  <a:latin typeface="Times New Roman"/>
                </a:endParaRPr>
              </a:p>
            </p:txBody>
          </p:sp>
          <p:sp>
            <p:nvSpPr>
              <p:cNvPr id="111" name="TextBox 110"/>
              <p:cNvSpPr txBox="1"/>
              <p:nvPr/>
            </p:nvSpPr>
            <p:spPr>
              <a:xfrm>
                <a:off x="3082935" y="2231021"/>
                <a:ext cx="2464307" cy="989384"/>
              </a:xfrm>
              <a:prstGeom prst="rect">
                <a:avLst/>
              </a:prstGeom>
              <a:noFill/>
            </p:spPr>
            <p:txBody>
              <a:bodyPr wrap="square" lIns="36576" tIns="36576" rIns="36576" bIns="36576" anchor="t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005BAC"/>
                    </a:solidFill>
                    <a:latin typeface="Times New Roman"/>
                  </a:rPr>
                  <a:t>non-Workload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005BAC"/>
                    </a:solidFill>
                    <a:latin typeface="Times New Roman"/>
                  </a:rPr>
                  <a:t>+ different feature group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29FAD29-F8B1-4FAC-C02F-53E1DF247137}"/>
                </a:ext>
              </a:extLst>
            </p:cNvPr>
            <p:cNvGrpSpPr/>
            <p:nvPr/>
          </p:nvGrpSpPr>
          <p:grpSpPr>
            <a:xfrm>
              <a:off x="2805289" y="3120707"/>
              <a:ext cx="3154222" cy="1612796"/>
              <a:chOff x="5850444" y="1686967"/>
              <a:chExt cx="2331720" cy="1849796"/>
            </a:xfrm>
          </p:grpSpPr>
          <p:sp>
            <p:nvSpPr>
              <p:cNvPr id="112" name="Rounded Rectangle 111"/>
              <p:cNvSpPr/>
              <p:nvPr/>
            </p:nvSpPr>
            <p:spPr>
              <a:xfrm>
                <a:off x="5850444" y="1686967"/>
                <a:ext cx="2331720" cy="1849796"/>
              </a:xfrm>
              <a:prstGeom prst="roundRect">
                <a:avLst/>
              </a:prstGeom>
              <a:solidFill>
                <a:srgbClr val="F1F8F2"/>
              </a:solidFill>
              <a:ln w="19050">
                <a:solidFill>
                  <a:srgbClr val="2E7D3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114" name="TextBox 113"/>
              <p:cNvSpPr txBox="1"/>
              <p:nvPr/>
            </p:nvSpPr>
            <p:spPr>
              <a:xfrm>
                <a:off x="5960172" y="1760739"/>
                <a:ext cx="2112263" cy="367125"/>
              </a:xfrm>
              <a:prstGeom prst="rect">
                <a:avLst/>
              </a:prstGeom>
              <a:noFill/>
            </p:spPr>
            <p:txBody>
              <a:bodyPr wrap="square" lIns="36576" tIns="36576" rIns="36576" bIns="36576" anchor="ctr">
                <a:spAutoFit/>
              </a:bodyPr>
              <a:lstStyle/>
              <a:p>
                <a:pPr algn="ctr"/>
                <a:r>
                  <a:rPr sz="1600" b="1" i="0" dirty="0">
                    <a:solidFill>
                      <a:srgbClr val="2E7D32"/>
                    </a:solidFill>
                    <a:latin typeface="Times New Roman"/>
                  </a:rPr>
                  <a:t>Feature Set B</a:t>
                </a:r>
              </a:p>
            </p:txBody>
          </p:sp>
          <p:sp>
            <p:nvSpPr>
              <p:cNvPr id="115" name="TextBox 114"/>
              <p:cNvSpPr txBox="1"/>
              <p:nvPr/>
            </p:nvSpPr>
            <p:spPr>
              <a:xfrm>
                <a:off x="5960172" y="2231021"/>
                <a:ext cx="2112263" cy="980690"/>
              </a:xfrm>
              <a:prstGeom prst="rect">
                <a:avLst/>
              </a:prstGeom>
              <a:noFill/>
            </p:spPr>
            <p:txBody>
              <a:bodyPr wrap="square" lIns="36576" tIns="36576" rIns="36576" bIns="36576" anchor="t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78A400"/>
                    </a:solidFill>
                    <a:latin typeface="Times New Roman"/>
                  </a:rPr>
                  <a:t>Add Workload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78A400"/>
                    </a:solidFill>
                    <a:latin typeface="Times New Roman"/>
                  </a:rPr>
                  <a:t>+ </a:t>
                </a:r>
                <a:r>
                  <a:rPr sz="1800" i="0" dirty="0">
                    <a:solidFill>
                      <a:srgbClr val="78A400"/>
                    </a:solidFill>
                    <a:latin typeface="Times New Roman"/>
                  </a:rPr>
                  <a:t>Set A</a:t>
                </a:r>
                <a:r>
                  <a:rPr lang="en-US" sz="1800" i="0" dirty="0">
                    <a:solidFill>
                      <a:srgbClr val="78A400"/>
                    </a:solidFill>
                    <a:latin typeface="Times New Roman"/>
                  </a:rPr>
                  <a:t> Feature group</a:t>
                </a:r>
                <a:r>
                  <a:rPr sz="1800" i="0" dirty="0">
                    <a:solidFill>
                      <a:srgbClr val="78A400"/>
                    </a:solidFill>
                    <a:latin typeface="Times New Roman"/>
                  </a:rPr>
                  <a:t> </a:t>
                </a: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AA7D26D-7FC0-4E2E-565E-ECA75BB29E66}"/>
              </a:ext>
            </a:extLst>
          </p:cNvPr>
          <p:cNvGrpSpPr/>
          <p:nvPr/>
        </p:nvGrpSpPr>
        <p:grpSpPr>
          <a:xfrm>
            <a:off x="325316" y="2488827"/>
            <a:ext cx="1481563" cy="994200"/>
            <a:chOff x="141037" y="2401000"/>
            <a:chExt cx="1481563" cy="994200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1EB111FF-E70F-BEFC-8670-A107CF9806BD}"/>
                </a:ext>
              </a:extLst>
            </p:cNvPr>
            <p:cNvSpPr/>
            <p:nvPr/>
          </p:nvSpPr>
          <p:spPr>
            <a:xfrm>
              <a:off x="141037" y="2401000"/>
              <a:ext cx="1471454" cy="994200"/>
            </a:xfrm>
            <a:prstGeom prst="roundRect">
              <a:avLst>
                <a:gd name="adj" fmla="val 15655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rgbClr val="C762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8A7AA8A-A51F-94E1-8DE6-1EC43AAD8D6D}"/>
                </a:ext>
              </a:extLst>
            </p:cNvPr>
            <p:cNvSpPr txBox="1"/>
            <p:nvPr/>
          </p:nvSpPr>
          <p:spPr>
            <a:xfrm>
              <a:off x="151146" y="2517038"/>
              <a:ext cx="1471454" cy="720197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lang="en-US" b="1" i="0" dirty="0">
                  <a:solidFill>
                    <a:srgbClr val="C76200"/>
                  </a:solidFill>
                  <a:latin typeface="Times New Roman"/>
                </a:rPr>
                <a:t>O-Cloud </a:t>
              </a:r>
            </a:p>
            <a:p>
              <a:pPr algn="ctr"/>
              <a:r>
                <a:rPr lang="en-US" b="1" i="0" dirty="0">
                  <a:solidFill>
                    <a:srgbClr val="C76200"/>
                  </a:solidFill>
                  <a:latin typeface="Times New Roman"/>
                </a:rPr>
                <a:t>Server Data from </a:t>
              </a:r>
              <a:r>
                <a:rPr lang="en-US" b="1" i="0" dirty="0" err="1">
                  <a:solidFill>
                    <a:srgbClr val="C76200"/>
                  </a:solidFill>
                  <a:latin typeface="Times New Roman"/>
                </a:rPr>
                <a:t>CortexDC</a:t>
              </a:r>
              <a:endParaRPr b="1" i="0" dirty="0">
                <a:solidFill>
                  <a:srgbClr val="C76200"/>
                </a:solidFill>
                <a:latin typeface="Times New Roman"/>
              </a:endParaRPr>
            </a:p>
          </p:txBody>
        </p:sp>
      </p:grpSp>
      <p:sp>
        <p:nvSpPr>
          <p:cNvPr id="9" name="Google Shape;99;p18">
            <a:extLst>
              <a:ext uri="{FF2B5EF4-FFF2-40B4-BE49-F238E27FC236}">
                <a16:creationId xmlns:a16="http://schemas.microsoft.com/office/drawing/2014/main" id="{0A4A5267-364F-AD02-D6B4-1A8A02E93C47}"/>
              </a:ext>
            </a:extLst>
          </p:cNvPr>
          <p:cNvSpPr txBox="1">
            <a:spLocks/>
          </p:cNvSpPr>
          <p:nvPr/>
        </p:nvSpPr>
        <p:spPr>
          <a:xfrm>
            <a:off x="1131950" y="160366"/>
            <a:ext cx="74082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dirty="0">
                <a:solidFill>
                  <a:schemeClr val="tx1"/>
                </a:solidFill>
                <a:latin typeface="Times New Roman"/>
              </a:rPr>
              <a:t>Experimental Plan</a:t>
            </a:r>
            <a:endParaRPr lang="en-US" sz="3600" dirty="0">
              <a:solidFill>
                <a:schemeClr val="tx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51DF1D-ACB6-DA8A-FF12-7153B5A162AA}"/>
              </a:ext>
            </a:extLst>
          </p:cNvPr>
          <p:cNvGrpSpPr/>
          <p:nvPr/>
        </p:nvGrpSpPr>
        <p:grpSpPr>
          <a:xfrm>
            <a:off x="7075271" y="1928761"/>
            <a:ext cx="1428154" cy="1889052"/>
            <a:chOff x="6070182" y="1338284"/>
            <a:chExt cx="1352794" cy="1275730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9A80DD9C-9D5C-D40C-D178-C3189187E2EC}"/>
                </a:ext>
              </a:extLst>
            </p:cNvPr>
            <p:cNvSpPr/>
            <p:nvPr/>
          </p:nvSpPr>
          <p:spPr>
            <a:xfrm>
              <a:off x="6070182" y="1338284"/>
              <a:ext cx="1352794" cy="1275730"/>
            </a:xfrm>
            <a:prstGeom prst="roundRect">
              <a:avLst/>
            </a:prstGeom>
            <a:solidFill>
              <a:srgbClr val="F3F7FB"/>
            </a:solidFill>
            <a:ln w="19050">
              <a:solidFill>
                <a:srgbClr val="005B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34418E7-C9E9-82F3-4894-B2D8A4E5468B}"/>
                </a:ext>
              </a:extLst>
            </p:cNvPr>
            <p:cNvSpPr txBox="1"/>
            <p:nvPr/>
          </p:nvSpPr>
          <p:spPr>
            <a:xfrm>
              <a:off x="6241162" y="1349286"/>
              <a:ext cx="1120900" cy="382444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lang="en-US" sz="1600" b="1" dirty="0">
                  <a:solidFill>
                    <a:srgbClr val="005BAC"/>
                  </a:solidFill>
                  <a:latin typeface="Times New Roman"/>
                </a:rPr>
                <a:t>Evaluation</a:t>
              </a:r>
              <a:endParaRPr sz="1600" b="1" i="0" dirty="0">
                <a:solidFill>
                  <a:srgbClr val="005BAC"/>
                </a:solidFill>
                <a:latin typeface="Times New Roman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9EB870-5EEC-91B9-76E3-410EFEF5A4ED}"/>
                </a:ext>
              </a:extLst>
            </p:cNvPr>
            <p:cNvSpPr txBox="1"/>
            <p:nvPr/>
          </p:nvSpPr>
          <p:spPr>
            <a:xfrm>
              <a:off x="6241162" y="1682200"/>
              <a:ext cx="999072" cy="678458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b="0" i="0" dirty="0">
                  <a:solidFill>
                    <a:srgbClr val="1F2D3D"/>
                  </a:solidFill>
                  <a:latin typeface="Times New Roman"/>
                </a:rPr>
                <a:t>MAE </a:t>
              </a:r>
              <a:endParaRPr lang="en-US" b="0" i="0" dirty="0">
                <a:solidFill>
                  <a:srgbClr val="1F2D3D"/>
                </a:solidFill>
                <a:latin typeface="Times New Roman"/>
              </a:endParaRPr>
            </a:p>
            <a:p>
              <a:pPr algn="l">
                <a:lnSpc>
                  <a:spcPct val="150000"/>
                </a:lnSpc>
              </a:pPr>
              <a:r>
                <a:rPr b="0" i="0" dirty="0">
                  <a:solidFill>
                    <a:srgbClr val="1F2D3D"/>
                  </a:solidFill>
                  <a:latin typeface="Times New Roman"/>
                </a:rPr>
                <a:t>RMSE</a:t>
              </a:r>
              <a:endParaRPr lang="en-US" b="0" i="0" dirty="0">
                <a:solidFill>
                  <a:srgbClr val="1F2D3D"/>
                </a:solidFill>
                <a:latin typeface="Times New Roman"/>
              </a:endParaRPr>
            </a:p>
            <a:p>
              <a:pPr algn="l">
                <a:lnSpc>
                  <a:spcPct val="150000"/>
                </a:lnSpc>
              </a:pPr>
              <a:r>
                <a:rPr b="0" i="0" dirty="0">
                  <a:solidFill>
                    <a:srgbClr val="1F2D3D"/>
                  </a:solidFill>
                  <a:latin typeface="Times New Roman"/>
                </a:rPr>
                <a:t>Max Error</a:t>
              </a:r>
            </a:p>
          </p:txBody>
        </p:sp>
      </p:grpSp>
      <p:sp>
        <p:nvSpPr>
          <p:cNvPr id="19" name="Right Arrow 18">
            <a:extLst>
              <a:ext uri="{FF2B5EF4-FFF2-40B4-BE49-F238E27FC236}">
                <a16:creationId xmlns:a16="http://schemas.microsoft.com/office/drawing/2014/main" id="{8CBC8522-E087-8E3F-5CD1-AC8EB8DB5741}"/>
              </a:ext>
            </a:extLst>
          </p:cNvPr>
          <p:cNvSpPr/>
          <p:nvPr/>
        </p:nvSpPr>
        <p:spPr>
          <a:xfrm>
            <a:off x="1874231" y="2855465"/>
            <a:ext cx="337259" cy="242207"/>
          </a:xfrm>
          <a:prstGeom prst="right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579D5073-EB3A-2588-6955-B926C62CCBE0}"/>
              </a:ext>
            </a:extLst>
          </p:cNvPr>
          <p:cNvSpPr/>
          <p:nvPr/>
        </p:nvSpPr>
        <p:spPr>
          <a:xfrm>
            <a:off x="4633263" y="2840147"/>
            <a:ext cx="337259" cy="242207"/>
          </a:xfrm>
          <a:prstGeom prst="right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75F465A9-4069-9D8D-4E9A-849A0B0C64EF}"/>
              </a:ext>
            </a:extLst>
          </p:cNvPr>
          <p:cNvSpPr/>
          <p:nvPr/>
        </p:nvSpPr>
        <p:spPr>
          <a:xfrm>
            <a:off x="6614200" y="2838311"/>
            <a:ext cx="337259" cy="242207"/>
          </a:xfrm>
          <a:prstGeom prst="right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963E6-A8FA-609D-A34C-7FF393FD5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>
            <a:extLst>
              <a:ext uri="{FF2B5EF4-FFF2-40B4-BE49-F238E27FC236}">
                <a16:creationId xmlns:a16="http://schemas.microsoft.com/office/drawing/2014/main" id="{6EBF7872-6FFA-2E05-0EDB-6BBE48AAECD5}"/>
              </a:ext>
            </a:extLst>
          </p:cNvPr>
          <p:cNvSpPr/>
          <p:nvPr/>
        </p:nvSpPr>
        <p:spPr>
          <a:xfrm>
            <a:off x="269897" y="230304"/>
            <a:ext cx="717504" cy="854298"/>
          </a:xfrm>
          <a:custGeom>
            <a:avLst/>
            <a:gdLst/>
            <a:ahLst/>
            <a:cxnLst/>
            <a:rect l="l" t="t" r="r" b="b"/>
            <a:pathLst>
              <a:path w="537" h="623" extrusionOk="0">
                <a:moveTo>
                  <a:pt x="269" y="0"/>
                </a:moveTo>
                <a:lnTo>
                  <a:pt x="403" y="78"/>
                </a:lnTo>
                <a:lnTo>
                  <a:pt x="537" y="156"/>
                </a:lnTo>
                <a:lnTo>
                  <a:pt x="537" y="311"/>
                </a:lnTo>
                <a:lnTo>
                  <a:pt x="537" y="467"/>
                </a:lnTo>
                <a:lnTo>
                  <a:pt x="403" y="545"/>
                </a:lnTo>
                <a:lnTo>
                  <a:pt x="269" y="623"/>
                </a:lnTo>
                <a:lnTo>
                  <a:pt x="134" y="545"/>
                </a:lnTo>
                <a:lnTo>
                  <a:pt x="0" y="467"/>
                </a:lnTo>
                <a:lnTo>
                  <a:pt x="0" y="311"/>
                </a:lnTo>
                <a:lnTo>
                  <a:pt x="0" y="156"/>
                </a:lnTo>
                <a:lnTo>
                  <a:pt x="134" y="78"/>
                </a:lnTo>
                <a:lnTo>
                  <a:pt x="269" y="0"/>
                </a:lnTo>
                <a:close/>
                <a:moveTo>
                  <a:pt x="269" y="53"/>
                </a:moveTo>
                <a:lnTo>
                  <a:pt x="380" y="117"/>
                </a:lnTo>
                <a:lnTo>
                  <a:pt x="492" y="182"/>
                </a:lnTo>
                <a:lnTo>
                  <a:pt x="492" y="311"/>
                </a:lnTo>
                <a:lnTo>
                  <a:pt x="492" y="441"/>
                </a:lnTo>
                <a:lnTo>
                  <a:pt x="380" y="505"/>
                </a:lnTo>
                <a:lnTo>
                  <a:pt x="269" y="570"/>
                </a:lnTo>
                <a:lnTo>
                  <a:pt x="157" y="505"/>
                </a:lnTo>
                <a:lnTo>
                  <a:pt x="46" y="441"/>
                </a:lnTo>
                <a:lnTo>
                  <a:pt x="46" y="311"/>
                </a:lnTo>
                <a:lnTo>
                  <a:pt x="46" y="182"/>
                </a:lnTo>
                <a:lnTo>
                  <a:pt x="157" y="117"/>
                </a:lnTo>
                <a:lnTo>
                  <a:pt x="269" y="53"/>
                </a:lnTo>
                <a:close/>
                <a:moveTo>
                  <a:pt x="215" y="455"/>
                </a:moveTo>
                <a:lnTo>
                  <a:pt x="367" y="455"/>
                </a:lnTo>
                <a:cubicBezTo>
                  <a:pt x="371" y="455"/>
                  <a:pt x="375" y="458"/>
                  <a:pt x="375" y="463"/>
                </a:cubicBezTo>
                <a:cubicBezTo>
                  <a:pt x="375" y="467"/>
                  <a:pt x="371" y="471"/>
                  <a:pt x="367" y="471"/>
                </a:cubicBezTo>
                <a:lnTo>
                  <a:pt x="215" y="471"/>
                </a:lnTo>
                <a:cubicBezTo>
                  <a:pt x="211" y="471"/>
                  <a:pt x="207" y="467"/>
                  <a:pt x="207" y="463"/>
                </a:cubicBezTo>
                <a:cubicBezTo>
                  <a:pt x="207" y="458"/>
                  <a:pt x="211" y="455"/>
                  <a:pt x="215" y="455"/>
                </a:cubicBezTo>
                <a:close/>
                <a:moveTo>
                  <a:pt x="218" y="380"/>
                </a:moveTo>
                <a:lnTo>
                  <a:pt x="302" y="242"/>
                </a:lnTo>
                <a:lnTo>
                  <a:pt x="331" y="260"/>
                </a:lnTo>
                <a:lnTo>
                  <a:pt x="248" y="398"/>
                </a:lnTo>
                <a:lnTo>
                  <a:pt x="218" y="380"/>
                </a:lnTo>
                <a:close/>
                <a:moveTo>
                  <a:pt x="159" y="344"/>
                </a:moveTo>
                <a:lnTo>
                  <a:pt x="243" y="207"/>
                </a:lnTo>
                <a:lnTo>
                  <a:pt x="272" y="224"/>
                </a:lnTo>
                <a:lnTo>
                  <a:pt x="189" y="362"/>
                </a:lnTo>
                <a:lnTo>
                  <a:pt x="159" y="344"/>
                </a:lnTo>
                <a:close/>
                <a:moveTo>
                  <a:pt x="146" y="456"/>
                </a:moveTo>
                <a:lnTo>
                  <a:pt x="154" y="387"/>
                </a:lnTo>
                <a:lnTo>
                  <a:pt x="211" y="422"/>
                </a:lnTo>
                <a:lnTo>
                  <a:pt x="155" y="461"/>
                </a:lnTo>
                <a:cubicBezTo>
                  <a:pt x="149" y="465"/>
                  <a:pt x="145" y="463"/>
                  <a:pt x="146" y="456"/>
                </a:cubicBezTo>
                <a:close/>
                <a:moveTo>
                  <a:pt x="266" y="168"/>
                </a:moveTo>
                <a:lnTo>
                  <a:pt x="253" y="188"/>
                </a:lnTo>
                <a:lnTo>
                  <a:pt x="342" y="242"/>
                </a:lnTo>
                <a:lnTo>
                  <a:pt x="354" y="222"/>
                </a:lnTo>
                <a:lnTo>
                  <a:pt x="266" y="168"/>
                </a:lnTo>
                <a:close/>
                <a:moveTo>
                  <a:pt x="285" y="138"/>
                </a:moveTo>
                <a:cubicBezTo>
                  <a:pt x="290" y="129"/>
                  <a:pt x="302" y="126"/>
                  <a:pt x="311" y="131"/>
                </a:cubicBezTo>
                <a:lnTo>
                  <a:pt x="366" y="165"/>
                </a:lnTo>
                <a:cubicBezTo>
                  <a:pt x="375" y="170"/>
                  <a:pt x="378" y="182"/>
                  <a:pt x="373" y="191"/>
                </a:cubicBezTo>
                <a:lnTo>
                  <a:pt x="365" y="204"/>
                </a:lnTo>
                <a:lnTo>
                  <a:pt x="277" y="150"/>
                </a:lnTo>
                <a:lnTo>
                  <a:pt x="285" y="138"/>
                </a:lnTo>
                <a:close/>
              </a:path>
            </a:pathLst>
          </a:custGeom>
          <a:solidFill>
            <a:srgbClr val="005BAC"/>
          </a:solidFill>
          <a:ln>
            <a:noFill/>
          </a:ln>
        </p:spPr>
        <p:txBody>
          <a:bodyPr spcFirstLastPara="1" wrap="square" lIns="68525" tIns="34250" rIns="68525" bIns="342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1" name="Google Shape;91;p18">
            <a:extLst>
              <a:ext uri="{FF2B5EF4-FFF2-40B4-BE49-F238E27FC236}">
                <a16:creationId xmlns:a16="http://schemas.microsoft.com/office/drawing/2014/main" id="{5F261CF0-6458-F757-10B8-5744A275554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56190" y="173163"/>
            <a:ext cx="548700" cy="3936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sz="1600" b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18">
            <a:extLst>
              <a:ext uri="{FF2B5EF4-FFF2-40B4-BE49-F238E27FC236}">
                <a16:creationId xmlns:a16="http://schemas.microsoft.com/office/drawing/2014/main" id="{89E1EC56-D858-D19A-ADD1-350A7FA43D17}"/>
              </a:ext>
            </a:extLst>
          </p:cNvPr>
          <p:cNvSpPr txBox="1"/>
          <p:nvPr/>
        </p:nvSpPr>
        <p:spPr>
          <a:xfrm>
            <a:off x="381000" y="4801075"/>
            <a:ext cx="89379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Times New Roman" panose="02020603050405020304" pitchFamily="18" charset="0"/>
              <a:ea typeface="Comic Sans MS"/>
              <a:cs typeface="Times New Roman" panose="02020603050405020304" pitchFamily="18" charset="0"/>
              <a:sym typeface="Comic Sans MS"/>
            </a:endParaRPr>
          </a:p>
        </p:txBody>
      </p:sp>
      <p:pic>
        <p:nvPicPr>
          <p:cNvPr id="98" name="Google Shape;98;p18">
            <a:extLst>
              <a:ext uri="{FF2B5EF4-FFF2-40B4-BE49-F238E27FC236}">
                <a16:creationId xmlns:a16="http://schemas.microsoft.com/office/drawing/2014/main" id="{EAA49844-220E-FEA4-16B0-B865A9FAE9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8545" r="19076"/>
          <a:stretch/>
        </p:blipFill>
        <p:spPr>
          <a:xfrm>
            <a:off x="38725" y="4786575"/>
            <a:ext cx="342275" cy="3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>
            <a:extLst>
              <a:ext uri="{FF2B5EF4-FFF2-40B4-BE49-F238E27FC236}">
                <a16:creationId xmlns:a16="http://schemas.microsoft.com/office/drawing/2014/main" id="{93E91F56-6241-F8C0-F19D-E95A9F9231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5369" y="197679"/>
            <a:ext cx="74082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r>
              <a:rPr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3600" dirty="0">
              <a:solidFill>
                <a:schemeClr val="tx1"/>
              </a:solidFill>
              <a:latin typeface="Times New Roman" panose="02020603050405020304" pitchFamily="18" charset="0"/>
              <a:ea typeface="Comic Sans MS"/>
              <a:cs typeface="Times New Roman" panose="02020603050405020304" pitchFamily="18" charset="0"/>
              <a:sym typeface="Comic Sans MS"/>
            </a:endParaRPr>
          </a:p>
        </p:txBody>
      </p:sp>
      <p:sp>
        <p:nvSpPr>
          <p:cNvPr id="9" name="Google Shape;99;p18">
            <a:extLst>
              <a:ext uri="{FF2B5EF4-FFF2-40B4-BE49-F238E27FC236}">
                <a16:creationId xmlns:a16="http://schemas.microsoft.com/office/drawing/2014/main" id="{EABE9BB0-A65E-E18A-A6A2-87D227700CE5}"/>
              </a:ext>
            </a:extLst>
          </p:cNvPr>
          <p:cNvSpPr txBox="1">
            <a:spLocks/>
          </p:cNvSpPr>
          <p:nvPr/>
        </p:nvSpPr>
        <p:spPr>
          <a:xfrm>
            <a:off x="1131950" y="160366"/>
            <a:ext cx="74082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6DD81F2-6061-4FA0-F70A-5DCDFEBA0811}"/>
              </a:ext>
            </a:extLst>
          </p:cNvPr>
          <p:cNvGrpSpPr/>
          <p:nvPr/>
        </p:nvGrpSpPr>
        <p:grpSpPr>
          <a:xfrm>
            <a:off x="1860370" y="1302303"/>
            <a:ext cx="5423260" cy="2770030"/>
            <a:chOff x="1028985" y="1099104"/>
            <a:chExt cx="5423260" cy="277003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A5219EC-AFA9-9571-ABEA-338C834BA465}"/>
                </a:ext>
              </a:extLst>
            </p:cNvPr>
            <p:cNvGrpSpPr/>
            <p:nvPr/>
          </p:nvGrpSpPr>
          <p:grpSpPr>
            <a:xfrm>
              <a:off x="1028985" y="1099104"/>
              <a:ext cx="5423260" cy="552716"/>
              <a:chOff x="3106229" y="1686967"/>
              <a:chExt cx="2510027" cy="764549"/>
            </a:xfrm>
          </p:grpSpPr>
          <p:sp>
            <p:nvSpPr>
              <p:cNvPr id="108" name="Rounded Rectangle 107">
                <a:extLst>
                  <a:ext uri="{FF2B5EF4-FFF2-40B4-BE49-F238E27FC236}">
                    <a16:creationId xmlns:a16="http://schemas.microsoft.com/office/drawing/2014/main" id="{2D951B1B-15E8-A91E-9B14-B8F9BAA6BCE6}"/>
                  </a:ext>
                </a:extLst>
              </p:cNvPr>
              <p:cNvSpPr/>
              <p:nvPr/>
            </p:nvSpPr>
            <p:spPr>
              <a:xfrm>
                <a:off x="3106229" y="1686967"/>
                <a:ext cx="2510027" cy="764549"/>
              </a:xfrm>
              <a:prstGeom prst="roundRect">
                <a:avLst/>
              </a:prstGeom>
              <a:solidFill>
                <a:srgbClr val="F3F7FB"/>
              </a:solidFill>
              <a:ln w="19050">
                <a:solidFill>
                  <a:srgbClr val="005B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111D2E1D-3878-327B-A4C8-91C631749761}"/>
                  </a:ext>
                </a:extLst>
              </p:cNvPr>
              <p:cNvSpPr txBox="1"/>
              <p:nvPr/>
            </p:nvSpPr>
            <p:spPr>
              <a:xfrm>
                <a:off x="3240056" y="1847858"/>
                <a:ext cx="2112263" cy="442765"/>
              </a:xfrm>
              <a:prstGeom prst="rect">
                <a:avLst/>
              </a:prstGeom>
              <a:noFill/>
            </p:spPr>
            <p:txBody>
              <a:bodyPr wrap="square" lIns="36576" tIns="36576" rIns="36576" bIns="36576" anchor="ctr">
                <a:spAutoFit/>
              </a:bodyPr>
              <a:lstStyle/>
              <a:p>
                <a:pPr algn="ctr"/>
                <a:r>
                  <a:rPr lang="en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CortexDC Dataset- Reproducible monitoring data</a:t>
                </a:r>
                <a:endParaRPr lang="en-US" sz="1600" b="1" i="0" dirty="0">
                  <a:solidFill>
                    <a:srgbClr val="005BA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F72F4D1-A3EF-426D-EE9C-337136B7C812}"/>
                </a:ext>
              </a:extLst>
            </p:cNvPr>
            <p:cNvGrpSpPr/>
            <p:nvPr/>
          </p:nvGrpSpPr>
          <p:grpSpPr>
            <a:xfrm>
              <a:off x="1028985" y="1842739"/>
              <a:ext cx="5423260" cy="2026395"/>
              <a:chOff x="1028985" y="1842739"/>
              <a:chExt cx="5423260" cy="2026395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76FA0A16-D631-4881-8E6E-DE9E6D8186C5}"/>
                  </a:ext>
                </a:extLst>
              </p:cNvPr>
              <p:cNvGrpSpPr/>
              <p:nvPr/>
            </p:nvGrpSpPr>
            <p:grpSpPr>
              <a:xfrm>
                <a:off x="1028985" y="1842739"/>
                <a:ext cx="5423260" cy="552716"/>
                <a:chOff x="3106229" y="1686967"/>
                <a:chExt cx="2510027" cy="764549"/>
              </a:xfrm>
            </p:grpSpPr>
            <p:sp>
              <p:nvSpPr>
                <p:cNvPr id="10" name="Rounded Rectangle 9">
                  <a:extLst>
                    <a:ext uri="{FF2B5EF4-FFF2-40B4-BE49-F238E27FC236}">
                      <a16:creationId xmlns:a16="http://schemas.microsoft.com/office/drawing/2014/main" id="{6FC34980-45F3-3A0D-42E4-7DCA9F734445}"/>
                    </a:ext>
                  </a:extLst>
                </p:cNvPr>
                <p:cNvSpPr/>
                <p:nvPr/>
              </p:nvSpPr>
              <p:spPr>
                <a:xfrm>
                  <a:off x="3106229" y="1686967"/>
                  <a:ext cx="2510027" cy="764549"/>
                </a:xfrm>
                <a:prstGeom prst="roundRect">
                  <a:avLst/>
                </a:prstGeom>
                <a:solidFill>
                  <a:srgbClr val="F3F7FB"/>
                </a:solidFill>
                <a:ln w="19050">
                  <a:solidFill>
                    <a:srgbClr val="005BA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6B237C6-DB1F-C652-9EE3-076EB583B167}"/>
                    </a:ext>
                  </a:extLst>
                </p:cNvPr>
                <p:cNvSpPr txBox="1"/>
                <p:nvPr/>
              </p:nvSpPr>
              <p:spPr>
                <a:xfrm>
                  <a:off x="3193549" y="1847858"/>
                  <a:ext cx="2294668" cy="442764"/>
                </a:xfrm>
                <a:prstGeom prst="rect">
                  <a:avLst/>
                </a:prstGeom>
                <a:noFill/>
              </p:spPr>
              <p:txBody>
                <a:bodyPr wrap="square" lIns="36576" tIns="36576" rIns="36576" bIns="36576" anchor="ctr">
                  <a:spAutoFit/>
                </a:bodyPr>
                <a:lstStyle/>
                <a:p>
                  <a:pPr algn="ctr"/>
                  <a:r>
                    <a:rPr lang="en-TW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Prediction Models-Temperature &amp; power prediction</a:t>
                  </a:r>
                  <a:endParaRPr lang="en-US" sz="1600" b="1" i="0" dirty="0">
                    <a:solidFill>
                      <a:srgbClr val="005BA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0F13A294-91A1-39E7-FEC3-E17102E5452A}"/>
                  </a:ext>
                </a:extLst>
              </p:cNvPr>
              <p:cNvGrpSpPr/>
              <p:nvPr/>
            </p:nvGrpSpPr>
            <p:grpSpPr>
              <a:xfrm>
                <a:off x="1028985" y="2579579"/>
                <a:ext cx="5423260" cy="552716"/>
                <a:chOff x="3106229" y="1686967"/>
                <a:chExt cx="2510027" cy="764549"/>
              </a:xfrm>
            </p:grpSpPr>
            <p:sp>
              <p:nvSpPr>
                <p:cNvPr id="18" name="Rounded Rectangle 17">
                  <a:extLst>
                    <a:ext uri="{FF2B5EF4-FFF2-40B4-BE49-F238E27FC236}">
                      <a16:creationId xmlns:a16="http://schemas.microsoft.com/office/drawing/2014/main" id="{283CD68D-09BF-DA2B-11DD-66E1F139E137}"/>
                    </a:ext>
                  </a:extLst>
                </p:cNvPr>
                <p:cNvSpPr/>
                <p:nvPr/>
              </p:nvSpPr>
              <p:spPr>
                <a:xfrm>
                  <a:off x="3106229" y="1686967"/>
                  <a:ext cx="2510027" cy="764549"/>
                </a:xfrm>
                <a:prstGeom prst="roundRect">
                  <a:avLst/>
                </a:prstGeom>
                <a:solidFill>
                  <a:srgbClr val="F3F7FB"/>
                </a:solidFill>
                <a:ln w="19050">
                  <a:solidFill>
                    <a:srgbClr val="005BA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7FB8B5C-4D11-F048-B0EF-C36BF06F230A}"/>
                    </a:ext>
                  </a:extLst>
                </p:cNvPr>
                <p:cNvSpPr txBox="1"/>
                <p:nvPr/>
              </p:nvSpPr>
              <p:spPr>
                <a:xfrm>
                  <a:off x="3193549" y="1847858"/>
                  <a:ext cx="2294668" cy="442764"/>
                </a:xfrm>
                <a:prstGeom prst="rect">
                  <a:avLst/>
                </a:prstGeom>
                <a:noFill/>
              </p:spPr>
              <p:txBody>
                <a:bodyPr wrap="square" lIns="36576" tIns="36576" rIns="36576" bIns="36576" anchor="ctr">
                  <a:spAutoFit/>
                </a:bodyPr>
                <a:lstStyle/>
                <a:p>
                  <a:pPr algn="ctr"/>
                  <a:r>
                    <a:rPr lang="en-TW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Feature Analysis-Identify key factors</a:t>
                  </a:r>
                  <a:endParaRPr lang="en-US" sz="1600" b="1" i="0" dirty="0">
                    <a:solidFill>
                      <a:srgbClr val="005BA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00B7DC3B-DD73-4AF1-5D89-5687F38DB42F}"/>
                  </a:ext>
                </a:extLst>
              </p:cNvPr>
              <p:cNvGrpSpPr/>
              <p:nvPr/>
            </p:nvGrpSpPr>
            <p:grpSpPr>
              <a:xfrm>
                <a:off x="1028985" y="3316418"/>
                <a:ext cx="5423260" cy="552716"/>
                <a:chOff x="3106229" y="1686967"/>
                <a:chExt cx="2510027" cy="764549"/>
              </a:xfrm>
            </p:grpSpPr>
            <p:sp>
              <p:nvSpPr>
                <p:cNvPr id="24" name="Rounded Rectangle 23">
                  <a:extLst>
                    <a:ext uri="{FF2B5EF4-FFF2-40B4-BE49-F238E27FC236}">
                      <a16:creationId xmlns:a16="http://schemas.microsoft.com/office/drawing/2014/main" id="{E9E07A3C-0BC3-8469-B77F-F62B14564F55}"/>
                    </a:ext>
                  </a:extLst>
                </p:cNvPr>
                <p:cNvSpPr/>
                <p:nvPr/>
              </p:nvSpPr>
              <p:spPr>
                <a:xfrm>
                  <a:off x="3106229" y="1686967"/>
                  <a:ext cx="2510027" cy="764549"/>
                </a:xfrm>
                <a:prstGeom prst="roundRect">
                  <a:avLst/>
                </a:prstGeom>
                <a:solidFill>
                  <a:srgbClr val="F3F7FB"/>
                </a:solidFill>
                <a:ln w="19050">
                  <a:solidFill>
                    <a:srgbClr val="005BA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C34A2CC-0F52-8B00-CFA3-5362B08A3C28}"/>
                    </a:ext>
                  </a:extLst>
                </p:cNvPr>
                <p:cNvSpPr txBox="1"/>
                <p:nvPr/>
              </p:nvSpPr>
              <p:spPr>
                <a:xfrm>
                  <a:off x="3193549" y="1847858"/>
                  <a:ext cx="2294668" cy="442764"/>
                </a:xfrm>
                <a:prstGeom prst="rect">
                  <a:avLst/>
                </a:prstGeom>
                <a:noFill/>
              </p:spPr>
              <p:txBody>
                <a:bodyPr wrap="square" lIns="36576" tIns="36576" rIns="36576" bIns="36576" anchor="ctr">
                  <a:spAutoFit/>
                </a:bodyPr>
                <a:lstStyle/>
                <a:p>
                  <a:pPr algn="ctr"/>
                  <a:r>
                    <a:rPr lang="en-TW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Monitoring Workflow-End-to-end prediction prototype</a:t>
                  </a:r>
                  <a:endParaRPr lang="en-US" sz="1600" b="1" i="0" dirty="0">
                    <a:solidFill>
                      <a:srgbClr val="005BA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711713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/>
          <p:nvPr/>
        </p:nvSpPr>
        <p:spPr>
          <a:xfrm>
            <a:off x="269897" y="230304"/>
            <a:ext cx="717504" cy="854298"/>
          </a:xfrm>
          <a:custGeom>
            <a:avLst/>
            <a:gdLst/>
            <a:ahLst/>
            <a:cxnLst/>
            <a:rect l="l" t="t" r="r" b="b"/>
            <a:pathLst>
              <a:path w="537" h="623" extrusionOk="0">
                <a:moveTo>
                  <a:pt x="269" y="0"/>
                </a:moveTo>
                <a:lnTo>
                  <a:pt x="403" y="78"/>
                </a:lnTo>
                <a:lnTo>
                  <a:pt x="537" y="156"/>
                </a:lnTo>
                <a:lnTo>
                  <a:pt x="537" y="311"/>
                </a:lnTo>
                <a:lnTo>
                  <a:pt x="537" y="467"/>
                </a:lnTo>
                <a:lnTo>
                  <a:pt x="403" y="545"/>
                </a:lnTo>
                <a:lnTo>
                  <a:pt x="269" y="623"/>
                </a:lnTo>
                <a:lnTo>
                  <a:pt x="134" y="545"/>
                </a:lnTo>
                <a:lnTo>
                  <a:pt x="0" y="467"/>
                </a:lnTo>
                <a:lnTo>
                  <a:pt x="0" y="311"/>
                </a:lnTo>
                <a:lnTo>
                  <a:pt x="0" y="156"/>
                </a:lnTo>
                <a:lnTo>
                  <a:pt x="134" y="78"/>
                </a:lnTo>
                <a:lnTo>
                  <a:pt x="269" y="0"/>
                </a:lnTo>
                <a:close/>
                <a:moveTo>
                  <a:pt x="269" y="53"/>
                </a:moveTo>
                <a:lnTo>
                  <a:pt x="380" y="117"/>
                </a:lnTo>
                <a:lnTo>
                  <a:pt x="492" y="182"/>
                </a:lnTo>
                <a:lnTo>
                  <a:pt x="492" y="311"/>
                </a:lnTo>
                <a:lnTo>
                  <a:pt x="492" y="441"/>
                </a:lnTo>
                <a:lnTo>
                  <a:pt x="380" y="505"/>
                </a:lnTo>
                <a:lnTo>
                  <a:pt x="269" y="570"/>
                </a:lnTo>
                <a:lnTo>
                  <a:pt x="157" y="505"/>
                </a:lnTo>
                <a:lnTo>
                  <a:pt x="46" y="441"/>
                </a:lnTo>
                <a:lnTo>
                  <a:pt x="46" y="311"/>
                </a:lnTo>
                <a:lnTo>
                  <a:pt x="46" y="182"/>
                </a:lnTo>
                <a:lnTo>
                  <a:pt x="157" y="117"/>
                </a:lnTo>
                <a:lnTo>
                  <a:pt x="269" y="53"/>
                </a:lnTo>
                <a:close/>
                <a:moveTo>
                  <a:pt x="215" y="455"/>
                </a:moveTo>
                <a:lnTo>
                  <a:pt x="367" y="455"/>
                </a:lnTo>
                <a:cubicBezTo>
                  <a:pt x="371" y="455"/>
                  <a:pt x="375" y="458"/>
                  <a:pt x="375" y="463"/>
                </a:cubicBezTo>
                <a:cubicBezTo>
                  <a:pt x="375" y="467"/>
                  <a:pt x="371" y="471"/>
                  <a:pt x="367" y="471"/>
                </a:cubicBezTo>
                <a:lnTo>
                  <a:pt x="215" y="471"/>
                </a:lnTo>
                <a:cubicBezTo>
                  <a:pt x="211" y="471"/>
                  <a:pt x="207" y="467"/>
                  <a:pt x="207" y="463"/>
                </a:cubicBezTo>
                <a:cubicBezTo>
                  <a:pt x="207" y="458"/>
                  <a:pt x="211" y="455"/>
                  <a:pt x="215" y="455"/>
                </a:cubicBezTo>
                <a:close/>
                <a:moveTo>
                  <a:pt x="218" y="380"/>
                </a:moveTo>
                <a:lnTo>
                  <a:pt x="302" y="242"/>
                </a:lnTo>
                <a:lnTo>
                  <a:pt x="331" y="260"/>
                </a:lnTo>
                <a:lnTo>
                  <a:pt x="248" y="398"/>
                </a:lnTo>
                <a:lnTo>
                  <a:pt x="218" y="380"/>
                </a:lnTo>
                <a:close/>
                <a:moveTo>
                  <a:pt x="159" y="344"/>
                </a:moveTo>
                <a:lnTo>
                  <a:pt x="243" y="207"/>
                </a:lnTo>
                <a:lnTo>
                  <a:pt x="272" y="224"/>
                </a:lnTo>
                <a:lnTo>
                  <a:pt x="189" y="362"/>
                </a:lnTo>
                <a:lnTo>
                  <a:pt x="159" y="344"/>
                </a:lnTo>
                <a:close/>
                <a:moveTo>
                  <a:pt x="146" y="456"/>
                </a:moveTo>
                <a:lnTo>
                  <a:pt x="154" y="387"/>
                </a:lnTo>
                <a:lnTo>
                  <a:pt x="211" y="422"/>
                </a:lnTo>
                <a:lnTo>
                  <a:pt x="155" y="461"/>
                </a:lnTo>
                <a:cubicBezTo>
                  <a:pt x="149" y="465"/>
                  <a:pt x="145" y="463"/>
                  <a:pt x="146" y="456"/>
                </a:cubicBezTo>
                <a:close/>
                <a:moveTo>
                  <a:pt x="266" y="168"/>
                </a:moveTo>
                <a:lnTo>
                  <a:pt x="253" y="188"/>
                </a:lnTo>
                <a:lnTo>
                  <a:pt x="342" y="242"/>
                </a:lnTo>
                <a:lnTo>
                  <a:pt x="354" y="222"/>
                </a:lnTo>
                <a:lnTo>
                  <a:pt x="266" y="168"/>
                </a:lnTo>
                <a:close/>
                <a:moveTo>
                  <a:pt x="285" y="138"/>
                </a:moveTo>
                <a:cubicBezTo>
                  <a:pt x="290" y="129"/>
                  <a:pt x="302" y="126"/>
                  <a:pt x="311" y="131"/>
                </a:cubicBezTo>
                <a:lnTo>
                  <a:pt x="366" y="165"/>
                </a:lnTo>
                <a:cubicBezTo>
                  <a:pt x="375" y="170"/>
                  <a:pt x="378" y="182"/>
                  <a:pt x="373" y="191"/>
                </a:cubicBezTo>
                <a:lnTo>
                  <a:pt x="365" y="204"/>
                </a:lnTo>
                <a:lnTo>
                  <a:pt x="277" y="150"/>
                </a:lnTo>
                <a:lnTo>
                  <a:pt x="285" y="138"/>
                </a:lnTo>
                <a:close/>
              </a:path>
            </a:pathLst>
          </a:custGeom>
          <a:solidFill>
            <a:srgbClr val="005BAC"/>
          </a:solidFill>
          <a:ln>
            <a:noFill/>
          </a:ln>
        </p:spPr>
        <p:txBody>
          <a:bodyPr spcFirstLastPara="1" wrap="square" lIns="68525" tIns="34250" rIns="68525" bIns="342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8"/>
          <p:cNvSpPr txBox="1">
            <a:spLocks noGrp="1"/>
          </p:cNvSpPr>
          <p:nvPr>
            <p:ph type="sldNum" idx="12"/>
          </p:nvPr>
        </p:nvSpPr>
        <p:spPr>
          <a:xfrm>
            <a:off x="8456190" y="173163"/>
            <a:ext cx="548700" cy="3936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sz="1600" b="0">
                <a:solidFill>
                  <a:srgbClr val="1F2D3D"/>
                </a:solidFill>
                <a:latin typeface="Times New Roman"/>
              </a:rPr>
              <a:t>8</a:t>
            </a:r>
            <a:endParaRPr/>
          </a:p>
        </p:txBody>
      </p:sp>
      <p:sp>
        <p:nvSpPr>
          <p:cNvPr id="97" name="Google Shape;97;p18"/>
          <p:cNvSpPr txBox="1"/>
          <p:nvPr/>
        </p:nvSpPr>
        <p:spPr>
          <a:xfrm>
            <a:off x="381000" y="4801075"/>
            <a:ext cx="89379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5A6772"/>
                </a:solidFill>
                <a:latin typeface="Times New Roman"/>
              </a:rPr>
              <a:t>Reference: [1] S. Ilager et al., “Thermal Prediction for Efficient Energy Management of Clouds Using Machine Learning,” IEEE TPDS, 2021.</a:t>
            </a:r>
            <a:endParaRPr sz="1000" dirty="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 rotWithShape="1">
          <a:blip r:embed="rId2">
            <a:alphaModFix/>
          </a:blip>
          <a:srcRect l="18545" r="19076"/>
          <a:stretch/>
        </p:blipFill>
        <p:spPr>
          <a:xfrm>
            <a:off x="38725" y="4786575"/>
            <a:ext cx="342275" cy="3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Rounded Rectangle 99"/>
          <p:cNvSpPr/>
          <p:nvPr/>
        </p:nvSpPr>
        <p:spPr>
          <a:xfrm>
            <a:off x="628649" y="1759381"/>
            <a:ext cx="7615071" cy="1417320"/>
          </a:xfrm>
          <a:prstGeom prst="roundRect">
            <a:avLst/>
          </a:prstGeom>
          <a:solidFill>
            <a:srgbClr val="F3F7FB"/>
          </a:solidFill>
          <a:ln w="1905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732084" y="2045304"/>
            <a:ext cx="7408200" cy="845474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/>
              </a:rPr>
              <a:t>Thank you for listening</a:t>
            </a:r>
            <a:endParaRPr sz="3600" dirty="0">
              <a:solidFill>
                <a:schemeClr val="tx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511</Words>
  <Application>Microsoft Macintosh PowerPoint</Application>
  <PresentationFormat>On-screen Show (16:9)</PresentationFormat>
  <Paragraphs>75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Microsoft JhengHei</vt:lpstr>
      <vt:lpstr>Arial</vt:lpstr>
      <vt:lpstr>Calibri</vt:lpstr>
      <vt:lpstr>Comic Sans MS</vt:lpstr>
      <vt:lpstr>Times New Roman</vt:lpstr>
      <vt:lpstr>Simple Light</vt:lpstr>
      <vt:lpstr>Temperature  Prediction for O-Cloud Servers</vt:lpstr>
      <vt:lpstr>PowerPoint Presentation</vt:lpstr>
      <vt:lpstr>Background Knowledge ＆ Problem</vt:lpstr>
      <vt:lpstr>Research Paper &amp; Research Gap</vt:lpstr>
      <vt:lpstr>PowerPoint Presentation</vt:lpstr>
      <vt:lpstr>  </vt:lpstr>
      <vt:lpstr>  </vt:lpstr>
      <vt:lpstr>Thank you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M11502273</cp:lastModifiedBy>
  <cp:revision>6</cp:revision>
  <dcterms:modified xsi:type="dcterms:W3CDTF">2026-09-19T11:24:29Z</dcterms:modified>
</cp:coreProperties>
</file>